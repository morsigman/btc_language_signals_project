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65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955" autoAdjust="0"/>
    <p:restoredTop sz="94660"/>
  </p:normalViewPr>
  <p:slideViewPr>
    <p:cSldViewPr snapToGrid="0">
      <p:cViewPr varScale="1">
        <p:scale>
          <a:sx n="15" d="100"/>
          <a:sy n="15" d="100"/>
        </p:scale>
        <p:origin x="67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91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39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244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166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41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956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643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754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234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89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29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40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C53A2-9991-8D60-B7C2-F75F49AF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 descr="תמונה שמכילה טלפון נייד, גאדג'ט, מכשיר חשמלי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70BE50D-7EF3-95E8-0400-45E6A54F42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1" y="0"/>
            <a:ext cx="25199975" cy="3594258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078423-F28C-F44A-1AD5-1B190743F74D}"/>
              </a:ext>
            </a:extLst>
          </p:cNvPr>
          <p:cNvSpPr/>
          <p:nvPr/>
        </p:nvSpPr>
        <p:spPr>
          <a:xfrm>
            <a:off x="1090295" y="4591050"/>
            <a:ext cx="23509706" cy="30743308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E3F875B1-9A62-5B3B-A166-00F34BC43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0049" y="941173"/>
            <a:ext cx="4529631" cy="3019754"/>
          </a:xfrm>
          <a:prstGeom prst="rect">
            <a:avLst/>
          </a:prstGeom>
          <a:ln w="38100"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438E77-3C81-495E-BAB5-AA6BABF1CD72}"/>
              </a:ext>
            </a:extLst>
          </p:cNvPr>
          <p:cNvGraphicFramePr>
            <a:graphicFrameLocks noGrp="1"/>
          </p:cNvGraphicFramePr>
          <p:nvPr/>
        </p:nvGraphicFramePr>
        <p:xfrm>
          <a:off x="954220" y="399575"/>
          <a:ext cx="23291533" cy="357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7006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2877247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907280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178567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dirty="0">
                          <a:solidFill>
                            <a:srgbClr val="37686C"/>
                          </a:solidFill>
                          <a:latin typeface="+mn-lt"/>
                        </a:rPr>
                        <a:t>Deep Learning</a:t>
                      </a:r>
                      <a:endParaRPr lang="en-GB" sz="4000" b="1" dirty="0">
                        <a:solidFill>
                          <a:srgbClr val="37686C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he-IL" sz="7600" b="1" dirty="0">
                          <a:solidFill>
                            <a:srgbClr val="37686C"/>
                          </a:solidFill>
                          <a:latin typeface="+mn-lt"/>
                        </a:rPr>
                        <a:t>ניתוח סנטימנט </a:t>
                      </a:r>
                      <a:r>
                        <a:rPr lang="he-IL" sz="7600" b="1" dirty="0" err="1">
                          <a:solidFill>
                            <a:srgbClr val="37686C"/>
                          </a:solidFill>
                          <a:latin typeface="+mn-lt"/>
                        </a:rPr>
                        <a:t>ביטקוין</a:t>
                      </a:r>
                      <a:endParaRPr lang="en-US" sz="7600" b="1" dirty="0">
                        <a:solidFill>
                          <a:srgbClr val="37686C"/>
                        </a:solidFill>
                        <a:latin typeface="+mn-lt"/>
                      </a:endParaRPr>
                    </a:p>
                    <a:p>
                      <a:pPr algn="ctr"/>
                      <a:r>
                        <a:rPr lang="he-IL" sz="5400" b="1" dirty="0">
                          <a:solidFill>
                            <a:srgbClr val="37686C"/>
                          </a:solidFill>
                          <a:latin typeface="+mn-lt"/>
                        </a:rPr>
                        <a:t>רועי </a:t>
                      </a:r>
                      <a:r>
                        <a:rPr lang="he-IL" sz="5400" b="1" dirty="0" err="1">
                          <a:solidFill>
                            <a:srgbClr val="37686C"/>
                          </a:solidFill>
                          <a:latin typeface="+mn-lt"/>
                        </a:rPr>
                        <a:t>ויונטה</a:t>
                      </a:r>
                      <a:r>
                        <a:rPr lang="he-IL" sz="5400" b="1" dirty="0">
                          <a:solidFill>
                            <a:srgbClr val="37686C"/>
                          </a:solidFill>
                          <a:latin typeface="+mn-lt"/>
                        </a:rPr>
                        <a:t>, מור </a:t>
                      </a:r>
                      <a:r>
                        <a:rPr lang="he-IL" sz="5400" b="1" dirty="0" err="1">
                          <a:solidFill>
                            <a:srgbClr val="37686C"/>
                          </a:solidFill>
                          <a:latin typeface="+mn-lt"/>
                        </a:rPr>
                        <a:t>סיגמן</a:t>
                      </a:r>
                      <a:endParaRPr lang="he-IL" sz="5400" b="1" dirty="0">
                        <a:solidFill>
                          <a:srgbClr val="37686C"/>
                        </a:solidFill>
                        <a:latin typeface="+mn-lt"/>
                      </a:endParaRPr>
                    </a:p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4000" b="1" kern="1200" dirty="0">
                          <a:solidFill>
                            <a:srgbClr val="37686C"/>
                          </a:solidFill>
                          <a:latin typeface="+mn-lt"/>
                          <a:ea typeface="+mn-ea"/>
                          <a:cs typeface="+mn-cs"/>
                        </a:rPr>
                        <a:t>סמסטר א‘, תשפ"ו</a:t>
                      </a:r>
                      <a:endParaRPr lang="en-GB" sz="4000" b="1" kern="1200" dirty="0">
                        <a:solidFill>
                          <a:srgbClr val="37686C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en-GB" b="1" dirty="0">
                        <a:solidFill>
                          <a:srgbClr val="37686C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78567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5400" b="1" dirty="0">
                          <a:solidFill>
                            <a:srgbClr val="37686C"/>
                          </a:solidFill>
                          <a:latin typeface="+mn-lt"/>
                        </a:rPr>
                        <a:t>עידן </a:t>
                      </a:r>
                      <a:r>
                        <a:rPr lang="he-IL" sz="5400" b="1" dirty="0" err="1">
                          <a:solidFill>
                            <a:srgbClr val="37686C"/>
                          </a:solidFill>
                          <a:latin typeface="+mn-lt"/>
                        </a:rPr>
                        <a:t>טוביס</a:t>
                      </a:r>
                      <a:endParaRPr lang="en-GB" sz="5400" b="1" dirty="0">
                        <a:solidFill>
                          <a:srgbClr val="37686C"/>
                        </a:solidFill>
                        <a:latin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grpSp>
        <p:nvGrpSpPr>
          <p:cNvPr id="20" name="קבוצה 19">
            <a:extLst>
              <a:ext uri="{FF2B5EF4-FFF2-40B4-BE49-F238E27FC236}">
                <a16:creationId xmlns:a16="http://schemas.microsoft.com/office/drawing/2014/main" id="{96B3C1ED-7B23-0E42-0CB8-B7339F3EE572}"/>
              </a:ext>
            </a:extLst>
          </p:cNvPr>
          <p:cNvGrpSpPr/>
          <p:nvPr/>
        </p:nvGrpSpPr>
        <p:grpSpPr>
          <a:xfrm>
            <a:off x="954220" y="5299073"/>
            <a:ext cx="23100458" cy="27649910"/>
            <a:chOff x="-10037832" y="6979795"/>
            <a:chExt cx="23100458" cy="27649910"/>
          </a:xfrm>
        </p:grpSpPr>
        <p:sp>
          <p:nvSpPr>
            <p:cNvPr id="26" name="Rectangle: Rounded Corners 3">
              <a:extLst>
                <a:ext uri="{FF2B5EF4-FFF2-40B4-BE49-F238E27FC236}">
                  <a16:creationId xmlns:a16="http://schemas.microsoft.com/office/drawing/2014/main" id="{A013501C-B344-7A93-702F-2C63D10B547F}"/>
                </a:ext>
              </a:extLst>
            </p:cNvPr>
            <p:cNvSpPr/>
            <p:nvPr/>
          </p:nvSpPr>
          <p:spPr>
            <a:xfrm>
              <a:off x="2085272" y="6979795"/>
              <a:ext cx="10945812" cy="8651304"/>
            </a:xfrm>
            <a:prstGeom prst="round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pic>
          <p:nvPicPr>
            <p:cNvPr id="7" name="תמונה 6" descr="תמונה שמכילה סמל, לוגו, אומנות קליפיפם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620236C2-AD38-F806-BFFE-2C44927A0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76226" y="8755317"/>
              <a:ext cx="2608422" cy="2094639"/>
            </a:xfrm>
            <a:prstGeom prst="rect">
              <a:avLst/>
            </a:prstGeom>
          </p:spPr>
        </p:pic>
        <p:pic>
          <p:nvPicPr>
            <p:cNvPr id="15" name="תמונה 14" descr="תמונה שמכילה עיגול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43C43CF9-0037-B374-F365-1D7DBB8D4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61495" y="8854922"/>
              <a:ext cx="2469542" cy="2214073"/>
            </a:xfrm>
            <a:prstGeom prst="rect">
              <a:avLst/>
            </a:prstGeom>
          </p:spPr>
        </p:pic>
        <p:pic>
          <p:nvPicPr>
            <p:cNvPr id="18" name="תמונה 17" descr="תמונה שמכילה ציור, סרט מצויר, איור, שרטוט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ED3D1F83-D73C-A12C-CA31-F7BA816B2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04269" y="8755317"/>
              <a:ext cx="1947472" cy="1983535"/>
            </a:xfrm>
            <a:prstGeom prst="rect">
              <a:avLst/>
            </a:prstGeom>
          </p:spPr>
        </p:pic>
        <p:sp>
          <p:nvSpPr>
            <p:cNvPr id="21" name="תיבת טקסט 20">
              <a:extLst>
                <a:ext uri="{FF2B5EF4-FFF2-40B4-BE49-F238E27FC236}">
                  <a16:creationId xmlns:a16="http://schemas.microsoft.com/office/drawing/2014/main" id="{3F1362FC-5D5B-D555-F5F0-16C21F3C08E6}"/>
                </a:ext>
              </a:extLst>
            </p:cNvPr>
            <p:cNvSpPr txBox="1"/>
            <p:nvPr/>
          </p:nvSpPr>
          <p:spPr>
            <a:xfrm>
              <a:off x="8536876" y="10896417"/>
              <a:ext cx="449420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חיזוי מחיר </a:t>
              </a:r>
              <a:r>
                <a:rPr kumimoji="0" lang="he-IL" sz="3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הביטקוין</a:t>
              </a:r>
              <a:endPara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2" name="תיבת טקסט 21">
              <a:extLst>
                <a:ext uri="{FF2B5EF4-FFF2-40B4-BE49-F238E27FC236}">
                  <a16:creationId xmlns:a16="http://schemas.microsoft.com/office/drawing/2014/main" id="{C90032DB-C9C4-D94A-FBB2-AFA4D2A2E91F}"/>
                </a:ext>
              </a:extLst>
            </p:cNvPr>
            <p:cNvSpPr txBox="1"/>
            <p:nvPr/>
          </p:nvSpPr>
          <p:spPr>
            <a:xfrm>
              <a:off x="5404535" y="11002991"/>
              <a:ext cx="318346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ניתוח סנטימנט</a:t>
              </a: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62B45B7F-D649-765A-5174-5229E5B6E537}"/>
                </a:ext>
              </a:extLst>
            </p:cNvPr>
            <p:cNvSpPr txBox="1"/>
            <p:nvPr/>
          </p:nvSpPr>
          <p:spPr>
            <a:xfrm>
              <a:off x="1605645" y="10896417"/>
              <a:ext cx="344256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r" rtl="1">
                <a:defRPr sz="3600">
                  <a:latin typeface="Segoe UI Semibold" panose="020B0702040204020203" pitchFamily="34" charset="0"/>
                  <a:cs typeface="Segoe UI Semibold" panose="020B0702040204020203" pitchFamily="34" charset="0"/>
                </a:defRPr>
              </a:lvl1pPr>
            </a:lstStyle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Twitter/X</a:t>
              </a:r>
              <a:endPara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30" name="תיבת טקסט 29">
              <a:extLst>
                <a:ext uri="{FF2B5EF4-FFF2-40B4-BE49-F238E27FC236}">
                  <a16:creationId xmlns:a16="http://schemas.microsoft.com/office/drawing/2014/main" id="{E7C38061-9825-1134-3B59-10667FF817E5}"/>
                </a:ext>
              </a:extLst>
            </p:cNvPr>
            <p:cNvSpPr txBox="1"/>
            <p:nvPr/>
          </p:nvSpPr>
          <p:spPr>
            <a:xfrm>
              <a:off x="2397506" y="12162883"/>
              <a:ext cx="10665120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פיתוח מערכת מבוססת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Deep Learning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לניתוח סנטימנט מרשתות חברתיות</a:t>
              </a:r>
              <a:b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</a:b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(X/Twitter)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ככלי לזיהוי מוקדם של מצבי סיכון או הזדמנות בשוק </a:t>
              </a:r>
              <a:r>
                <a:rPr kumimoji="0" lang="he-IL" sz="3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הביטקוין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.</a:t>
              </a:r>
            </a:p>
          </p:txBody>
        </p:sp>
        <p:sp>
          <p:nvSpPr>
            <p:cNvPr id="31" name="Rectangle: Rounded Corners 3">
              <a:extLst>
                <a:ext uri="{FF2B5EF4-FFF2-40B4-BE49-F238E27FC236}">
                  <a16:creationId xmlns:a16="http://schemas.microsoft.com/office/drawing/2014/main" id="{56BAA466-D5AC-9F75-18F2-6A9A40447802}"/>
                </a:ext>
              </a:extLst>
            </p:cNvPr>
            <p:cNvSpPr/>
            <p:nvPr/>
          </p:nvSpPr>
          <p:spPr>
            <a:xfrm>
              <a:off x="-9307315" y="7044537"/>
              <a:ext cx="10945812" cy="8586562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37" name="תיבת טקסט 36">
              <a:extLst>
                <a:ext uri="{FF2B5EF4-FFF2-40B4-BE49-F238E27FC236}">
                  <a16:creationId xmlns:a16="http://schemas.microsoft.com/office/drawing/2014/main" id="{4083D6D1-CF81-932A-EB1A-DE70A04E0B29}"/>
                </a:ext>
              </a:extLst>
            </p:cNvPr>
            <p:cNvSpPr txBox="1"/>
            <p:nvPr/>
          </p:nvSpPr>
          <p:spPr>
            <a:xfrm>
              <a:off x="-2041116" y="10876805"/>
              <a:ext cx="408001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איסוף והבנת הנתונים </a:t>
              </a:r>
            </a:p>
          </p:txBody>
        </p:sp>
        <p:sp>
          <p:nvSpPr>
            <p:cNvPr id="38" name="תיבת טקסט 37">
              <a:extLst>
                <a:ext uri="{FF2B5EF4-FFF2-40B4-BE49-F238E27FC236}">
                  <a16:creationId xmlns:a16="http://schemas.microsoft.com/office/drawing/2014/main" id="{702C6A9A-EB12-5CCB-369B-D94E70CB8FE9}"/>
                </a:ext>
              </a:extLst>
            </p:cNvPr>
            <p:cNvSpPr txBox="1"/>
            <p:nvPr/>
          </p:nvSpPr>
          <p:spPr>
            <a:xfrm>
              <a:off x="-5269643" y="10982281"/>
              <a:ext cx="408001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חיזוי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r30</a:t>
              </a:r>
              <a:endPara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9" name="תיבת טקסט 38">
              <a:extLst>
                <a:ext uri="{FF2B5EF4-FFF2-40B4-BE49-F238E27FC236}">
                  <a16:creationId xmlns:a16="http://schemas.microsoft.com/office/drawing/2014/main" id="{805FCCD9-6D55-1B25-71A3-4430A49DB897}"/>
                </a:ext>
              </a:extLst>
            </p:cNvPr>
            <p:cNvSpPr txBox="1"/>
            <p:nvPr/>
          </p:nvSpPr>
          <p:spPr>
            <a:xfrm>
              <a:off x="-8833009" y="11061445"/>
              <a:ext cx="408001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חלוקה </a:t>
              </a:r>
              <a:r>
                <a:rPr kumimoji="0" lang="he-IL" sz="36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Segoe UI Black" panose="020B0A02040204020203" pitchFamily="34" charset="0"/>
                  <a:ea typeface="Segoe UI Black" panose="020B0A02040204020203" pitchFamily="34" charset="0"/>
                  <a:cs typeface="Segoe UI Semibold" panose="020B0702040204020203" pitchFamily="34" charset="0"/>
                </a:rPr>
                <a:t>טמפולרית</a:t>
              </a:r>
              <a:endPara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0" name="תיבת טקסט 39">
              <a:extLst>
                <a:ext uri="{FF2B5EF4-FFF2-40B4-BE49-F238E27FC236}">
                  <a16:creationId xmlns:a16="http://schemas.microsoft.com/office/drawing/2014/main" id="{B558EEAC-5338-E064-029A-A7D90E6C75B8}"/>
                </a:ext>
              </a:extLst>
            </p:cNvPr>
            <p:cNvSpPr txBox="1"/>
            <p:nvPr/>
          </p:nvSpPr>
          <p:spPr>
            <a:xfrm>
              <a:off x="-1466187" y="11945700"/>
              <a:ext cx="2796199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66,000 ציוצים ונתוני מחיר מ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Yahoo</a:t>
              </a:r>
              <a:endPara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41" name="תיבת טקסט 40">
              <a:extLst>
                <a:ext uri="{FF2B5EF4-FFF2-40B4-BE49-F238E27FC236}">
                  <a16:creationId xmlns:a16="http://schemas.microsoft.com/office/drawing/2014/main" id="{137F8F72-DC98-7CAF-901A-973E29994FE2}"/>
                </a:ext>
              </a:extLst>
            </p:cNvPr>
            <p:cNvSpPr txBox="1"/>
            <p:nvPr/>
          </p:nvSpPr>
          <p:spPr>
            <a:xfrm>
              <a:off x="-4597949" y="11848973"/>
              <a:ext cx="2796199" cy="2862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הגדרת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r30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תשואה בטווח של 30 יום מרגע פרסום הציוץ</a:t>
              </a:r>
            </a:p>
          </p:txBody>
        </p:sp>
        <p:sp>
          <p:nvSpPr>
            <p:cNvPr id="42" name="תיבת טקסט 41">
              <a:extLst>
                <a:ext uri="{FF2B5EF4-FFF2-40B4-BE49-F238E27FC236}">
                  <a16:creationId xmlns:a16="http://schemas.microsoft.com/office/drawing/2014/main" id="{27AB2B98-9662-79E5-66E5-A33FE16A33A0}"/>
                </a:ext>
              </a:extLst>
            </p:cNvPr>
            <p:cNvSpPr txBox="1"/>
            <p:nvPr/>
          </p:nvSpPr>
          <p:spPr>
            <a:xfrm>
              <a:off x="-8258975" y="11846696"/>
              <a:ext cx="2796199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למניעת דליפת מידע לפי זמן כדי להבטיח אמינות בחיזוי.</a:t>
              </a:r>
            </a:p>
          </p:txBody>
        </p:sp>
        <p:sp>
          <p:nvSpPr>
            <p:cNvPr id="43" name="Rectangle: Rounded Corners 3">
              <a:extLst>
                <a:ext uri="{FF2B5EF4-FFF2-40B4-BE49-F238E27FC236}">
                  <a16:creationId xmlns:a16="http://schemas.microsoft.com/office/drawing/2014/main" id="{3FE4CFE6-BF03-987E-FA10-FB58608055F1}"/>
                </a:ext>
              </a:extLst>
            </p:cNvPr>
            <p:cNvSpPr/>
            <p:nvPr/>
          </p:nvSpPr>
          <p:spPr>
            <a:xfrm>
              <a:off x="-9307315" y="16090567"/>
              <a:ext cx="22338399" cy="8651304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51" name="תיבת טקסט 50">
              <a:extLst>
                <a:ext uri="{FF2B5EF4-FFF2-40B4-BE49-F238E27FC236}">
                  <a16:creationId xmlns:a16="http://schemas.microsoft.com/office/drawing/2014/main" id="{79FF855A-6971-67A9-F1B6-B11264578008}"/>
                </a:ext>
              </a:extLst>
            </p:cNvPr>
            <p:cNvSpPr txBox="1"/>
            <p:nvPr/>
          </p:nvSpPr>
          <p:spPr>
            <a:xfrm>
              <a:off x="5950637" y="22334760"/>
              <a:ext cx="6685436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ברמת הציוץ הבודד, הרעש רב מידי. קשה להבחין בין מודלים באמצעות מדדים יבשים. </a:t>
              </a:r>
            </a:p>
          </p:txBody>
        </p:sp>
        <p:sp>
          <p:nvSpPr>
            <p:cNvPr id="56" name="תיבת טקסט 55">
              <a:extLst>
                <a:ext uri="{FF2B5EF4-FFF2-40B4-BE49-F238E27FC236}">
                  <a16:creationId xmlns:a16="http://schemas.microsoft.com/office/drawing/2014/main" id="{865C7718-5927-6F71-1D28-9A7CB5AD9FDA}"/>
                </a:ext>
              </a:extLst>
            </p:cNvPr>
            <p:cNvSpPr txBox="1"/>
            <p:nvPr/>
          </p:nvSpPr>
          <p:spPr>
            <a:xfrm>
              <a:off x="-8310929" y="21406273"/>
              <a:ext cx="6685436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- Event Study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"שור שוויון"  צבירת סנטימנט לרמת ימים, חשיפת סינגל מובהק במודל ה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Baseline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בלבד.</a:t>
              </a:r>
            </a:p>
          </p:txBody>
        </p:sp>
        <p:sp>
          <p:nvSpPr>
            <p:cNvPr id="80" name="Rectangle: Rounded Corners 3">
              <a:extLst>
                <a:ext uri="{FF2B5EF4-FFF2-40B4-BE49-F238E27FC236}">
                  <a16:creationId xmlns:a16="http://schemas.microsoft.com/office/drawing/2014/main" id="{91867066-37FA-1569-EFE0-E5DCF5B4F359}"/>
                </a:ext>
              </a:extLst>
            </p:cNvPr>
            <p:cNvSpPr/>
            <p:nvPr/>
          </p:nvSpPr>
          <p:spPr>
            <a:xfrm>
              <a:off x="-9058966" y="25218855"/>
              <a:ext cx="10881984" cy="6351318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82" name="תיבת טקסט 81">
              <a:extLst>
                <a:ext uri="{FF2B5EF4-FFF2-40B4-BE49-F238E27FC236}">
                  <a16:creationId xmlns:a16="http://schemas.microsoft.com/office/drawing/2014/main" id="{29CB62E6-207A-E70D-36A8-067612191843}"/>
                </a:ext>
              </a:extLst>
            </p:cNvPr>
            <p:cNvSpPr txBox="1"/>
            <p:nvPr/>
          </p:nvSpPr>
          <p:spPr>
            <a:xfrm>
              <a:off x="-7500547" y="26758639"/>
              <a:ext cx="1058236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מניעת דליפת מידע (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Data Leakage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)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83" name="תיבת טקסט 82">
              <a:extLst>
                <a:ext uri="{FF2B5EF4-FFF2-40B4-BE49-F238E27FC236}">
                  <a16:creationId xmlns:a16="http://schemas.microsoft.com/office/drawing/2014/main" id="{EF94C667-B12A-1EE7-E8D3-684BF3855006}"/>
                </a:ext>
              </a:extLst>
            </p:cNvPr>
            <p:cNvSpPr txBox="1"/>
            <p:nvPr/>
          </p:nvSpPr>
          <p:spPr>
            <a:xfrm>
              <a:off x="-8141238" y="27763111"/>
              <a:ext cx="996425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הסיגנל בטקסט חלש ברמת ציוץ, אבל מתגלה ברמת יום</a:t>
              </a:r>
            </a:p>
          </p:txBody>
        </p:sp>
        <p:sp>
          <p:nvSpPr>
            <p:cNvPr id="84" name="תיבת טקסט 83">
              <a:extLst>
                <a:ext uri="{FF2B5EF4-FFF2-40B4-BE49-F238E27FC236}">
                  <a16:creationId xmlns:a16="http://schemas.microsoft.com/office/drawing/2014/main" id="{471DD269-F84B-BE66-1015-9F0DEEC38BF2}"/>
                </a:ext>
              </a:extLst>
            </p:cNvPr>
            <p:cNvSpPr txBox="1"/>
            <p:nvPr/>
          </p:nvSpPr>
          <p:spPr>
            <a:xfrm>
              <a:off x="-10037832" y="29009755"/>
              <a:ext cx="126010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השוואה הוגנת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Baseline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חזקה מוכיחה יושרה מדעית</a:t>
              </a:r>
            </a:p>
          </p:txBody>
        </p:sp>
        <p:sp>
          <p:nvSpPr>
            <p:cNvPr id="85" name="תיבת טקסט 84">
              <a:extLst>
                <a:ext uri="{FF2B5EF4-FFF2-40B4-BE49-F238E27FC236}">
                  <a16:creationId xmlns:a16="http://schemas.microsoft.com/office/drawing/2014/main" id="{8054F526-7E6E-8C10-ADBE-F9CEEECD0B45}"/>
                </a:ext>
              </a:extLst>
            </p:cNvPr>
            <p:cNvSpPr txBox="1"/>
            <p:nvPr/>
          </p:nvSpPr>
          <p:spPr>
            <a:xfrm>
              <a:off x="-9244229" y="29939795"/>
              <a:ext cx="1132950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בדיקת יציבות על דאטה גדול מחזקת שהממצאים לא מקריים</a:t>
              </a:r>
            </a:p>
          </p:txBody>
        </p:sp>
        <p:sp>
          <p:nvSpPr>
            <p:cNvPr id="86" name="Rectangle: Rounded Corners 3">
              <a:extLst>
                <a:ext uri="{FF2B5EF4-FFF2-40B4-BE49-F238E27FC236}">
                  <a16:creationId xmlns:a16="http://schemas.microsoft.com/office/drawing/2014/main" id="{56DC74FC-3B0C-15E0-4AD2-E35272BEEBC5}"/>
                </a:ext>
              </a:extLst>
            </p:cNvPr>
            <p:cNvSpPr/>
            <p:nvPr/>
          </p:nvSpPr>
          <p:spPr>
            <a:xfrm>
              <a:off x="2397506" y="25149225"/>
              <a:ext cx="10574166" cy="6351319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88" name="תיבת טקסט 87">
              <a:extLst>
                <a:ext uri="{FF2B5EF4-FFF2-40B4-BE49-F238E27FC236}">
                  <a16:creationId xmlns:a16="http://schemas.microsoft.com/office/drawing/2014/main" id="{A06CF42F-7573-5399-210E-4B541C5D530F}"/>
                </a:ext>
              </a:extLst>
            </p:cNvPr>
            <p:cNvSpPr txBox="1"/>
            <p:nvPr/>
          </p:nvSpPr>
          <p:spPr>
            <a:xfrm>
              <a:off x="2974128" y="26917191"/>
              <a:ext cx="948712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הרצת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Pipeline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על דאטה גדול: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330,000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ציוצים (1500 ביום) </a:t>
              </a:r>
              <a:r>
                <a:rPr kumimoji="0" lang="he-IL" sz="3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תוףך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 שמירה על מתודולוגיה זהה. </a:t>
              </a:r>
            </a:p>
          </p:txBody>
        </p:sp>
        <p:sp>
          <p:nvSpPr>
            <p:cNvPr id="89" name="תיבת טקסט 88">
              <a:extLst>
                <a:ext uri="{FF2B5EF4-FFF2-40B4-BE49-F238E27FC236}">
                  <a16:creationId xmlns:a16="http://schemas.microsoft.com/office/drawing/2014/main" id="{E68F8E8D-742E-3433-098D-554B47D62B91}"/>
                </a:ext>
              </a:extLst>
            </p:cNvPr>
            <p:cNvSpPr txBox="1"/>
            <p:nvPr/>
          </p:nvSpPr>
          <p:spPr>
            <a:xfrm>
              <a:off x="2974128" y="28369043"/>
              <a:ext cx="9487125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 panose="020B0702040204020203" pitchFamily="34" charset="0"/>
                  <a:ea typeface="+mn-ea"/>
                  <a:cs typeface="Segoe UI Semibold" panose="020B0702040204020203" pitchFamily="34" charset="0"/>
                </a:rPr>
                <a:t>הגדלת הדאטה שיפרה יציבות, אבל לא שינתה את המסקנה המרכזית — הסיגנל מהטקסט קצר מוגבל ולכן נדרש מודל/דאטה עשיר יותר כדי לראות שיפור משמעותי.</a:t>
              </a:r>
            </a:p>
          </p:txBody>
        </p:sp>
        <p:sp>
          <p:nvSpPr>
            <p:cNvPr id="95" name="Rectangle: Rounded Corners 3">
              <a:extLst>
                <a:ext uri="{FF2B5EF4-FFF2-40B4-BE49-F238E27FC236}">
                  <a16:creationId xmlns:a16="http://schemas.microsoft.com/office/drawing/2014/main" id="{EB389D74-F94D-9032-EF41-5C1C086B69A9}"/>
                </a:ext>
              </a:extLst>
            </p:cNvPr>
            <p:cNvSpPr/>
            <p:nvPr/>
          </p:nvSpPr>
          <p:spPr>
            <a:xfrm>
              <a:off x="-9058966" y="32115785"/>
              <a:ext cx="22030638" cy="2352482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  <p:sp>
          <p:nvSpPr>
            <p:cNvPr id="97" name="תיבת טקסט 96">
              <a:extLst>
                <a:ext uri="{FF2B5EF4-FFF2-40B4-BE49-F238E27FC236}">
                  <a16:creationId xmlns:a16="http://schemas.microsoft.com/office/drawing/2014/main" id="{95994312-4532-F38E-4D63-5DE35B6B2EDB}"/>
                </a:ext>
              </a:extLst>
            </p:cNvPr>
            <p:cNvSpPr txBox="1"/>
            <p:nvPr/>
          </p:nvSpPr>
          <p:spPr>
            <a:xfrm>
              <a:off x="-8258975" y="32875379"/>
              <a:ext cx="20933265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בנינו מערכת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Deep Learning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 עם מתודולוגיה נקייה נגד דליפת מידע, וגילינו שהסיגנל בציוצים חלש ברמת ציוץ בודד אבל מתגלה יותר טוב ברמת ימים דרך 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Event Study —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 והבדיקה על 330</a:t>
              </a:r>
              <a:r>
                <a: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 </a:t>
              </a:r>
              <a:r>
                <a:rPr kumimoji="0" lang="he-IL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panose="020B0604020202020204" pitchFamily="34" charset="0"/>
                </a:rPr>
                <a:t> ציוצים הראתה שהתמונה יציבה והמסקנות לא מקריות</a:t>
              </a:r>
              <a:endPara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endParaRPr>
            </a:p>
          </p:txBody>
        </p:sp>
      </p:grp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C0F7BA19-EA43-E631-F975-6E27C95FEB87}"/>
              </a:ext>
            </a:extLst>
          </p:cNvPr>
          <p:cNvSpPr txBox="1"/>
          <p:nvPr/>
        </p:nvSpPr>
        <p:spPr>
          <a:xfrm>
            <a:off x="16713286" y="5368690"/>
            <a:ext cx="4136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37686C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הקדמה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37686C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2" name="תיבת טקסט 31">
            <a:extLst>
              <a:ext uri="{FF2B5EF4-FFF2-40B4-BE49-F238E27FC236}">
                <a16:creationId xmlns:a16="http://schemas.microsoft.com/office/drawing/2014/main" id="{9156CB21-E310-4089-63A0-6DF048C3263C}"/>
              </a:ext>
            </a:extLst>
          </p:cNvPr>
          <p:cNvSpPr txBox="1"/>
          <p:nvPr/>
        </p:nvSpPr>
        <p:spPr>
          <a:xfrm>
            <a:off x="2888083" y="5676042"/>
            <a:ext cx="92338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37686C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שיטה ומודלים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37686C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44" name="תיבת טקסט 43">
            <a:extLst>
              <a:ext uri="{FF2B5EF4-FFF2-40B4-BE49-F238E27FC236}">
                <a16:creationId xmlns:a16="http://schemas.microsoft.com/office/drawing/2014/main" id="{0A3CD00B-CFA1-83C9-6C7A-4FA3E3F17827}"/>
              </a:ext>
            </a:extLst>
          </p:cNvPr>
          <p:cNvSpPr txBox="1"/>
          <p:nvPr/>
        </p:nvSpPr>
        <p:spPr>
          <a:xfrm>
            <a:off x="10529447" y="14723142"/>
            <a:ext cx="4136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37686C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תוצאות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37686C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81" name="תיבת טקסט 80">
            <a:extLst>
              <a:ext uri="{FF2B5EF4-FFF2-40B4-BE49-F238E27FC236}">
                <a16:creationId xmlns:a16="http://schemas.microsoft.com/office/drawing/2014/main" id="{66EF9F31-C584-5B72-60A4-1B816B90AD27}"/>
              </a:ext>
            </a:extLst>
          </p:cNvPr>
          <p:cNvSpPr txBox="1"/>
          <p:nvPr/>
        </p:nvSpPr>
        <p:spPr>
          <a:xfrm>
            <a:off x="5308036" y="23666454"/>
            <a:ext cx="4136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37686C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מסקנות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37686C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87" name="תיבת טקסט 86">
            <a:extLst>
              <a:ext uri="{FF2B5EF4-FFF2-40B4-BE49-F238E27FC236}">
                <a16:creationId xmlns:a16="http://schemas.microsoft.com/office/drawing/2014/main" id="{4738237E-0131-1C51-D75A-1403D9D9F4DB}"/>
              </a:ext>
            </a:extLst>
          </p:cNvPr>
          <p:cNvSpPr txBox="1"/>
          <p:nvPr/>
        </p:nvSpPr>
        <p:spPr>
          <a:xfrm>
            <a:off x="16040261" y="23778926"/>
            <a:ext cx="4983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37686C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בדיקת יציבות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37686C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pic>
        <p:nvPicPr>
          <p:cNvPr id="19" name="תמונה 18">
            <a:extLst>
              <a:ext uri="{FF2B5EF4-FFF2-40B4-BE49-F238E27FC236}">
                <a16:creationId xmlns:a16="http://schemas.microsoft.com/office/drawing/2014/main" id="{2C1355A5-2F9D-BC4E-9E6A-221FB98405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3963" y="7074595"/>
            <a:ext cx="2031399" cy="1964794"/>
          </a:xfrm>
          <a:prstGeom prst="rect">
            <a:avLst/>
          </a:prstGeom>
        </p:spPr>
      </p:pic>
      <p:pic>
        <p:nvPicPr>
          <p:cNvPr id="34" name="תמונה 33" descr="תמונה שמכילה טקסט, קו, גופן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C7CFE00-7348-362D-ADFF-720B2791B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6644" y="7271919"/>
            <a:ext cx="1952130" cy="1767470"/>
          </a:xfrm>
          <a:prstGeom prst="rect">
            <a:avLst/>
          </a:prstGeom>
        </p:spPr>
      </p:pic>
      <p:pic>
        <p:nvPicPr>
          <p:cNvPr id="36" name="תמונה 35" descr="תמונה שמכילה טקסט, גופן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6AB8F50-09BD-C6E9-74E1-44088E042E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3793" y="7208393"/>
            <a:ext cx="2251215" cy="2145689"/>
          </a:xfrm>
          <a:prstGeom prst="rect">
            <a:avLst/>
          </a:prstGeom>
        </p:spPr>
      </p:pic>
      <p:pic>
        <p:nvPicPr>
          <p:cNvPr id="46" name="תמונה 45" descr="תמונה שמכילה טקסט, קו, עלילה, תרשים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EAD1A66-37E6-9218-8441-5D60413043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691264" y="15690608"/>
            <a:ext cx="6685436" cy="4963430"/>
          </a:xfrm>
          <a:prstGeom prst="rect">
            <a:avLst/>
          </a:prstGeom>
        </p:spPr>
      </p:pic>
      <p:pic>
        <p:nvPicPr>
          <p:cNvPr id="48" name="תמונה 47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D20258E-E440-2BF7-C3F5-F531911265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0302" y="15796503"/>
            <a:ext cx="7249537" cy="3391373"/>
          </a:xfrm>
          <a:prstGeom prst="rect">
            <a:avLst/>
          </a:prstGeom>
        </p:spPr>
      </p:pic>
      <p:pic>
        <p:nvPicPr>
          <p:cNvPr id="50" name="תמונה 49" descr="תמונה שמכילה טקסט, צילום מסך, תרשים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C8AFE9A-BB42-2D8E-E114-E1036FE368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3086" y="15882705"/>
            <a:ext cx="7192379" cy="3391373"/>
          </a:xfrm>
          <a:prstGeom prst="rect">
            <a:avLst/>
          </a:prstGeom>
        </p:spPr>
      </p:pic>
      <p:pic>
        <p:nvPicPr>
          <p:cNvPr id="54" name="תמונה 53" descr="תמונה שמכילה טקסט, גופן, צילום מסך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566FF8-94A1-6AC6-7923-43C364D892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61570" y="19428826"/>
            <a:ext cx="6604254" cy="3391372"/>
          </a:xfrm>
          <a:prstGeom prst="rect">
            <a:avLst/>
          </a:prstGeom>
        </p:spPr>
      </p:pic>
      <p:pic>
        <p:nvPicPr>
          <p:cNvPr id="92" name="תמונה 91">
            <a:extLst>
              <a:ext uri="{FF2B5EF4-FFF2-40B4-BE49-F238E27FC236}">
                <a16:creationId xmlns:a16="http://schemas.microsoft.com/office/drawing/2014/main" id="{371E65D0-223B-9B61-CFE7-E888CED069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99883" y="23691183"/>
            <a:ext cx="1667684" cy="1454791"/>
          </a:xfrm>
          <a:prstGeom prst="rect">
            <a:avLst/>
          </a:prstGeom>
        </p:spPr>
      </p:pic>
      <p:pic>
        <p:nvPicPr>
          <p:cNvPr id="94" name="תמונה 93" descr="תמונה שמכילה טקסט, עיצו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7D49C54-119C-EA4A-6C72-B678D52F759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43435" y="24007923"/>
            <a:ext cx="2284690" cy="2015904"/>
          </a:xfrm>
          <a:prstGeom prst="rect">
            <a:avLst/>
          </a:prstGeom>
        </p:spPr>
      </p:pic>
      <p:sp>
        <p:nvSpPr>
          <p:cNvPr id="96" name="תיבת טקסט 95">
            <a:extLst>
              <a:ext uri="{FF2B5EF4-FFF2-40B4-BE49-F238E27FC236}">
                <a16:creationId xmlns:a16="http://schemas.microsoft.com/office/drawing/2014/main" id="{7E8DE4D7-65F9-91C1-0053-52AD328F6927}"/>
              </a:ext>
            </a:extLst>
          </p:cNvPr>
          <p:cNvSpPr txBox="1"/>
          <p:nvPr/>
        </p:nvSpPr>
        <p:spPr>
          <a:xfrm>
            <a:off x="10130964" y="30443743"/>
            <a:ext cx="49836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37686C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סיכום: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37686C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87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247</Words>
  <Application>Microsoft Office PowerPoint</Application>
  <PresentationFormat>מותאם אישית</PresentationFormat>
  <Paragraphs>30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Black</vt:lpstr>
      <vt:lpstr>Segoe UI Semibold</vt:lpstr>
      <vt:lpstr>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 Sigman</dc:creator>
  <cp:lastModifiedBy>Mor Sigman</cp:lastModifiedBy>
  <cp:revision>1</cp:revision>
  <dcterms:created xsi:type="dcterms:W3CDTF">2026-02-15T22:23:53Z</dcterms:created>
  <dcterms:modified xsi:type="dcterms:W3CDTF">2026-02-15T22:25:01Z</dcterms:modified>
</cp:coreProperties>
</file>