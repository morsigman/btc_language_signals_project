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8" r:id="rId6"/>
    <p:sldId id="262" r:id="rId7"/>
    <p:sldId id="281" r:id="rId8"/>
    <p:sldId id="271" r:id="rId9"/>
    <p:sldId id="272" r:id="rId10"/>
    <p:sldId id="274" r:id="rId11"/>
    <p:sldId id="283" r:id="rId12"/>
    <p:sldId id="273" r:id="rId13"/>
    <p:sldId id="287" r:id="rId14"/>
    <p:sldId id="275" r:id="rId15"/>
    <p:sldId id="276" r:id="rId16"/>
    <p:sldId id="279" r:id="rId17"/>
    <p:sldId id="286" r:id="rId18"/>
    <p:sldId id="263" r:id="rId19"/>
    <p:sldId id="270" r:id="rId20"/>
  </p:sldIdLst>
  <p:sldSz cx="18288000" cy="10287000"/>
  <p:notesSz cx="6858000" cy="9144000"/>
  <p:embeddedFontLst>
    <p:embeddedFont>
      <p:font typeface="Anton" pitchFamily="2" charset="0"/>
      <p:regular r:id="rId22"/>
    </p:embeddedFont>
    <p:embeddedFont>
      <p:font typeface="Calibri (MS) Bold" panose="020B0604020202020204" charset="0"/>
      <p:regular r:id="rId23"/>
    </p:embeddedFont>
    <p:embeddedFont>
      <p:font typeface="Montserrat Semi-Bold Italics" panose="020B0604020202020204" charset="0"/>
      <p:regular r:id="rId24"/>
    </p:embeddedFont>
    <p:embeddedFont>
      <p:font typeface="Segoe UI Semibold" panose="020B0702040204020203" pitchFamily="34" charset="0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CBF5"/>
    <a:srgbClr val="FFFFFF"/>
    <a:srgbClr val="88B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8562" autoAdjust="0"/>
  </p:normalViewPr>
  <p:slideViewPr>
    <p:cSldViewPr>
      <p:cViewPr varScale="1">
        <p:scale>
          <a:sx n="43" d="100"/>
          <a:sy n="43" d="100"/>
        </p:scale>
        <p:origin x="1378" y="78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5462B77-60E5-4268-8DCD-7D8DAB321237}" type="datetimeFigureOut">
              <a:rPr lang="he-IL" smtClean="0"/>
              <a:t>כ"ח/שבט/תשפ"ו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A44EA2D-AE65-4423-914C-08507E21BA5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8297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3997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1616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54378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1342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9279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92616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9AF9E-6EAB-603F-604A-1555FE43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FA0C1F8F-9459-456F-75DB-B1E53162F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FE40529-E960-32F5-0745-B5D732D94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B66B7A5-12D1-C470-A452-426D19FE4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33962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596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8621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8702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AA2E2-AB55-1CF8-56A8-02644240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EF73DBFA-617F-9D65-9C35-1413654B1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CFBBC86E-358F-82E0-0A73-92E46B929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9B9BA7D-BAAF-4BAC-8EC4-87EEB5EC1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2247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2306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85DBB-6442-7DAA-2EF6-06CAC901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19F4FC23-7F19-CFD8-DCDB-A7B17802D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3301858-38D3-F7AB-8778-41C1B8564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186D55C-E3AF-FD13-2960-A7B8DFEF0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40527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64012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31088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1598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3B3B-4D93-5FC4-6CDB-069E24BBB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1E562261-EF31-D2D4-D47E-2FEE92334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147FBD-4104-990A-E9AF-9F6FBA764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C2A6068-C87F-9140-2EDC-82D547C60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92081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88546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EA2D-AE65-4423-914C-08507E21BA56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4470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orSigman/btc_language_signals_project.git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hyperlink" Target="https://youtu.be/0YfxmVveXc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038"/>
            <a:ext cx="18288000" cy="1030103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 dirty="0"/>
          </a:p>
        </p:txBody>
      </p:sp>
      <p:grpSp>
        <p:nvGrpSpPr>
          <p:cNvPr id="3" name="Group 3"/>
          <p:cNvGrpSpPr/>
          <p:nvPr/>
        </p:nvGrpSpPr>
        <p:grpSpPr>
          <a:xfrm>
            <a:off x="10757960" y="-514350"/>
            <a:ext cx="7759759" cy="11512258"/>
            <a:chOff x="0" y="0"/>
            <a:chExt cx="2043723" cy="3032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700071" y="2309189"/>
            <a:ext cx="3792394" cy="2116845"/>
          </a:xfrm>
          <a:custGeom>
            <a:avLst/>
            <a:gdLst/>
            <a:ahLst/>
            <a:cxnLst/>
            <a:rect l="l" t="t" r="r" b="b"/>
            <a:pathLst>
              <a:path w="3792394" h="2116845">
                <a:moveTo>
                  <a:pt x="0" y="0"/>
                </a:moveTo>
                <a:lnTo>
                  <a:pt x="3792394" y="0"/>
                </a:lnTo>
                <a:lnTo>
                  <a:pt x="3792394" y="2116845"/>
                </a:lnTo>
                <a:lnTo>
                  <a:pt x="0" y="2116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8" name="TextBox 8"/>
          <p:cNvSpPr txBox="1"/>
          <p:nvPr/>
        </p:nvSpPr>
        <p:spPr>
          <a:xfrm>
            <a:off x="1530284" y="3945398"/>
            <a:ext cx="5069449" cy="222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2"/>
              </a:lnSpc>
              <a:spcBef>
                <a:spcPct val="0"/>
              </a:spcBef>
            </a:pPr>
            <a:r>
              <a:rPr lang="en-US" sz="13015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BITCOIN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97717" y="3945398"/>
            <a:ext cx="8971909" cy="222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2"/>
              </a:lnSpc>
              <a:spcBef>
                <a:spcPct val="0"/>
              </a:spcBef>
            </a:pPr>
            <a:r>
              <a:rPr lang="en-US" sz="13015" dirty="0">
                <a:solidFill>
                  <a:srgbClr val="A6CBF5"/>
                </a:solidFill>
                <a:latin typeface="Anton"/>
                <a:ea typeface="Anton"/>
                <a:cs typeface="Anton"/>
                <a:sym typeface="Anton"/>
              </a:rPr>
              <a:t>SENTIMENT</a:t>
            </a:r>
            <a:r>
              <a:rPr lang="en-US" sz="13015" dirty="0">
                <a:solidFill>
                  <a:srgbClr val="39CDE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811833" y="7828843"/>
            <a:ext cx="5121833" cy="2858914"/>
          </a:xfrm>
          <a:custGeom>
            <a:avLst/>
            <a:gdLst/>
            <a:ahLst/>
            <a:cxnLst/>
            <a:rect l="l" t="t" r="r" b="b"/>
            <a:pathLst>
              <a:path w="5121833" h="2858914">
                <a:moveTo>
                  <a:pt x="0" y="0"/>
                </a:moveTo>
                <a:lnTo>
                  <a:pt x="5121832" y="0"/>
                </a:lnTo>
                <a:lnTo>
                  <a:pt x="5121832" y="2858914"/>
                </a:lnTo>
                <a:lnTo>
                  <a:pt x="0" y="2858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1" name="Freeform 11"/>
          <p:cNvSpPr/>
          <p:nvPr/>
        </p:nvSpPr>
        <p:spPr>
          <a:xfrm>
            <a:off x="1530284" y="8376474"/>
            <a:ext cx="4767433" cy="697237"/>
          </a:xfrm>
          <a:custGeom>
            <a:avLst/>
            <a:gdLst/>
            <a:ahLst/>
            <a:cxnLst/>
            <a:rect l="l" t="t" r="r" b="b"/>
            <a:pathLst>
              <a:path w="4767433" h="697237">
                <a:moveTo>
                  <a:pt x="0" y="0"/>
                </a:moveTo>
                <a:lnTo>
                  <a:pt x="4767433" y="0"/>
                </a:lnTo>
                <a:lnTo>
                  <a:pt x="4767433" y="697237"/>
                </a:lnTo>
                <a:lnTo>
                  <a:pt x="0" y="6972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3" name="TextBox 13"/>
          <p:cNvSpPr txBox="1"/>
          <p:nvPr/>
        </p:nvSpPr>
        <p:spPr>
          <a:xfrm>
            <a:off x="1530284" y="6326092"/>
            <a:ext cx="12261916" cy="351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3200" b="1" i="1" dirty="0">
                <a:solidFill>
                  <a:srgbClr val="A6CBF5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PREDICTING MARKET TRENDS FROM SOCIAL MEDIA TEXT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0284" y="6999715"/>
            <a:ext cx="9392615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417" b="1" i="1" dirty="0">
                <a:solidFill>
                  <a:srgbClr val="A6CBF5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ROY VIVANTE , MOR SIGMAN</a:t>
            </a:r>
          </a:p>
          <a:p>
            <a:pPr algn="l">
              <a:lnSpc>
                <a:spcPts val="2562"/>
              </a:lnSpc>
            </a:pPr>
            <a:endParaRPr lang="en-US" sz="2417" b="1" i="1" dirty="0">
              <a:solidFill>
                <a:srgbClr val="A6CBF5"/>
              </a:solidFill>
              <a:latin typeface="Montserrat Semi-Bold Italics"/>
              <a:ea typeface="Montserrat Semi-Bold Italics"/>
              <a:cs typeface="Montserrat Semi-Bold Italics"/>
              <a:sym typeface="Montserrat Semi-Bold Italics"/>
            </a:endParaRPr>
          </a:p>
          <a:p>
            <a:pPr algn="l">
              <a:lnSpc>
                <a:spcPts val="2562"/>
              </a:lnSpc>
            </a:pPr>
            <a:r>
              <a:rPr lang="en-US" sz="2417" b="1" i="1" dirty="0">
                <a:solidFill>
                  <a:srgbClr val="A6CBF5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DEEP LEARNING | HIT - IDAN TOBIS</a:t>
            </a:r>
          </a:p>
          <a:p>
            <a:pPr algn="l">
              <a:lnSpc>
                <a:spcPts val="2562"/>
              </a:lnSpc>
            </a:pPr>
            <a:endParaRPr lang="en-US" sz="2417" b="1" i="1" dirty="0">
              <a:solidFill>
                <a:srgbClr val="A6CBF5"/>
              </a:solidFill>
              <a:latin typeface="Montserrat Semi-Bold Italics"/>
              <a:ea typeface="Montserrat Semi-Bold Italics"/>
              <a:cs typeface="Montserrat Semi-Bold Italics"/>
              <a:sym typeface="Montserrat Semi-Bold Italics"/>
            </a:endParaRPr>
          </a:p>
        </p:txBody>
      </p:sp>
      <p:sp>
        <p:nvSpPr>
          <p:cNvPr id="15" name="תיבת טקסט 14">
            <a:hlinkClick r:id="rId8"/>
            <a:extLst>
              <a:ext uri="{FF2B5EF4-FFF2-40B4-BE49-F238E27FC236}">
                <a16:creationId xmlns:a16="http://schemas.microsoft.com/office/drawing/2014/main" id="{35084D51-5714-E635-1979-8D73D5C2E1F7}"/>
              </a:ext>
            </a:extLst>
          </p:cNvPr>
          <p:cNvSpPr txBox="1"/>
          <p:nvPr/>
        </p:nvSpPr>
        <p:spPr>
          <a:xfrm>
            <a:off x="3908714" y="8492945"/>
            <a:ext cx="1690159" cy="46429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17" b="1" i="1" dirty="0">
                <a:solidFill>
                  <a:srgbClr val="A6CBF5"/>
                </a:solidFill>
                <a:latin typeface="Montserrat Semi-Bold Italics"/>
                <a:hlinkClick r:id="rId8"/>
              </a:rPr>
              <a:t>GitHub</a:t>
            </a:r>
            <a:endParaRPr lang="he-IL" sz="2417" b="1" i="1" dirty="0">
              <a:solidFill>
                <a:srgbClr val="A6CBF5"/>
              </a:solidFill>
              <a:latin typeface="Montserrat Semi-Bold Italics"/>
            </a:endParaRPr>
          </a:p>
        </p:txBody>
      </p:sp>
      <p:sp>
        <p:nvSpPr>
          <p:cNvPr id="17" name="תיבת טקסט 16">
            <a:hlinkClick r:id="rId8"/>
            <a:extLst>
              <a:ext uri="{FF2B5EF4-FFF2-40B4-BE49-F238E27FC236}">
                <a16:creationId xmlns:a16="http://schemas.microsoft.com/office/drawing/2014/main" id="{87846C15-E049-025F-7CC1-5DC1E3CE26BA}"/>
              </a:ext>
            </a:extLst>
          </p:cNvPr>
          <p:cNvSpPr txBox="1"/>
          <p:nvPr/>
        </p:nvSpPr>
        <p:spPr>
          <a:xfrm>
            <a:off x="1974978" y="8492945"/>
            <a:ext cx="1690159" cy="46429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17" b="1" i="1" dirty="0">
                <a:solidFill>
                  <a:srgbClr val="A6CBF5"/>
                </a:solidFill>
                <a:latin typeface="Montserrat Semi-Bold Italics"/>
                <a:hlinkClick r:id="rId9"/>
              </a:rPr>
              <a:t>YouTube</a:t>
            </a:r>
            <a:endParaRPr lang="he-IL" sz="2417" b="1" i="1" dirty="0">
              <a:solidFill>
                <a:srgbClr val="A6CBF5"/>
              </a:solidFill>
              <a:latin typeface="Montserrat Semi-Bold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811" y="-612629"/>
            <a:ext cx="18328297" cy="11512258"/>
            <a:chOff x="0" y="0"/>
            <a:chExt cx="2810186" cy="3032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10186" cy="3032035"/>
            </a:xfrm>
            <a:custGeom>
              <a:avLst/>
              <a:gdLst/>
              <a:ahLst/>
              <a:cxnLst/>
              <a:rect l="l" t="t" r="r" b="b"/>
              <a:pathLst>
                <a:path w="2810186" h="3032035">
                  <a:moveTo>
                    <a:pt x="0" y="0"/>
                  </a:moveTo>
                  <a:lnTo>
                    <a:pt x="2810186" y="0"/>
                  </a:lnTo>
                  <a:lnTo>
                    <a:pt x="2810186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10186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קבוצה 11">
            <a:extLst>
              <a:ext uri="{FF2B5EF4-FFF2-40B4-BE49-F238E27FC236}">
                <a16:creationId xmlns:a16="http://schemas.microsoft.com/office/drawing/2014/main" id="{7E3CBCC9-69C9-B86E-935B-A334D9F9A140}"/>
              </a:ext>
            </a:extLst>
          </p:cNvPr>
          <p:cNvGrpSpPr/>
          <p:nvPr/>
        </p:nvGrpSpPr>
        <p:grpSpPr>
          <a:xfrm>
            <a:off x="-9810" y="190499"/>
            <a:ext cx="7629810" cy="10119361"/>
            <a:chOff x="11290964" y="-212315"/>
            <a:chExt cx="7852718" cy="10202835"/>
          </a:xfrm>
        </p:grpSpPr>
        <p:grpSp>
          <p:nvGrpSpPr>
            <p:cNvPr id="6" name="Group 6"/>
            <p:cNvGrpSpPr/>
            <p:nvPr/>
          </p:nvGrpSpPr>
          <p:grpSpPr>
            <a:xfrm>
              <a:off x="11290964" y="1170014"/>
              <a:ext cx="7852717" cy="7852717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62031" t="-17711" r="-59755" b="-20905"/>
                </a:stretch>
              </a:blipFill>
            </p:spPr>
            <p:txBody>
              <a:bodyPr/>
              <a:lstStyle/>
              <a:p>
                <a:endParaRPr lang="he-IL"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14021849" y="7131606"/>
              <a:ext cx="5121833" cy="2858914"/>
            </a:xfrm>
            <a:custGeom>
              <a:avLst/>
              <a:gdLst/>
              <a:ahLst/>
              <a:cxnLst/>
              <a:rect l="l" t="t" r="r" b="b"/>
              <a:pathLst>
                <a:path w="5121833" h="2858914">
                  <a:moveTo>
                    <a:pt x="0" y="0"/>
                  </a:moveTo>
                  <a:lnTo>
                    <a:pt x="5121832" y="0"/>
                  </a:lnTo>
                  <a:lnTo>
                    <a:pt x="5121832" y="2858914"/>
                  </a:lnTo>
                  <a:lnTo>
                    <a:pt x="0" y="2858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Freeform 9"/>
            <p:cNvSpPr/>
            <p:nvPr/>
          </p:nvSpPr>
          <p:spPr>
            <a:xfrm>
              <a:off x="11325350" y="-212315"/>
              <a:ext cx="5121833" cy="2858914"/>
            </a:xfrm>
            <a:custGeom>
              <a:avLst/>
              <a:gdLst/>
              <a:ahLst/>
              <a:cxnLst/>
              <a:rect l="l" t="t" r="r" b="b"/>
              <a:pathLst>
                <a:path w="5121833" h="2858914">
                  <a:moveTo>
                    <a:pt x="0" y="0"/>
                  </a:moveTo>
                  <a:lnTo>
                    <a:pt x="5121833" y="0"/>
                  </a:lnTo>
                  <a:lnTo>
                    <a:pt x="5121833" y="2858913"/>
                  </a:lnTo>
                  <a:lnTo>
                    <a:pt x="0" y="2858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637521" y="1525804"/>
            <a:ext cx="702059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מטרת הפרויקט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509F28FC-BBFB-0B7A-0A67-8C5B3F49AFA6}"/>
              </a:ext>
            </a:extLst>
          </p:cNvPr>
          <p:cNvSpPr txBox="1"/>
          <p:nvPr/>
        </p:nvSpPr>
        <p:spPr>
          <a:xfrm>
            <a:off x="8503920" y="3500340"/>
            <a:ext cx="9154192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פיתוח מערכת מבוססת </a:t>
            </a:r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Deep Learning 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לניתוח סנטימנט מרשתות חברתיות</a:t>
            </a:r>
            <a:b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(X/Twitter)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ככלי לזיהוי מוקדם של מצבי סיכון או הזדמנות בשוק </a:t>
            </a:r>
            <a:r>
              <a:rPr lang="he-IL" sz="36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הביטקוין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3">
            <a:extLst>
              <a:ext uri="{FF2B5EF4-FFF2-40B4-BE49-F238E27FC236}">
                <a16:creationId xmlns:a16="http://schemas.microsoft.com/office/drawing/2014/main" id="{8EF952FC-3AC5-D422-B02B-656527911F40}"/>
              </a:ext>
            </a:extLst>
          </p:cNvPr>
          <p:cNvSpPr/>
          <p:nvPr/>
        </p:nvSpPr>
        <p:spPr>
          <a:xfrm>
            <a:off x="232069" y="-1"/>
            <a:ext cx="18055931" cy="10287001"/>
          </a:xfrm>
          <a:custGeom>
            <a:avLst/>
            <a:gdLst/>
            <a:ahLst/>
            <a:cxnLst/>
            <a:rect l="l" t="t" r="r" b="b"/>
            <a:pathLst>
              <a:path w="2810186" h="3032035">
                <a:moveTo>
                  <a:pt x="0" y="0"/>
                </a:moveTo>
                <a:lnTo>
                  <a:pt x="2810186" y="0"/>
                </a:lnTo>
                <a:lnTo>
                  <a:pt x="2810186" y="3032035"/>
                </a:lnTo>
                <a:lnTo>
                  <a:pt x="0" y="3032035"/>
                </a:lnTo>
                <a:close/>
              </a:path>
            </a:pathLst>
          </a:custGeom>
          <a:gradFill rotWithShape="1">
            <a:gsLst>
              <a:gs pos="0">
                <a:srgbClr val="0B4DAF">
                  <a:alpha val="0"/>
                </a:srgbClr>
              </a:gs>
              <a:gs pos="50000">
                <a:srgbClr val="00090D">
                  <a:alpha val="49000"/>
                </a:srgbClr>
              </a:gs>
              <a:gs pos="100000">
                <a:srgbClr val="000000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he-IL"/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43F30892-9A0B-517A-3AD2-939165C3DA20}"/>
              </a:ext>
            </a:extLst>
          </p:cNvPr>
          <p:cNvSpPr txBox="1"/>
          <p:nvPr/>
        </p:nvSpPr>
        <p:spPr>
          <a:xfrm>
            <a:off x="567448" y="4638513"/>
            <a:ext cx="18328298" cy="1165691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2523302" y="6103685"/>
            <a:ext cx="13747115" cy="2290255"/>
            <a:chOff x="0" y="0"/>
            <a:chExt cx="2129788" cy="3548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9788" cy="354820"/>
            </a:xfrm>
            <a:custGeom>
              <a:avLst/>
              <a:gdLst/>
              <a:ahLst/>
              <a:cxnLst/>
              <a:rect l="l" t="t" r="r" b="b"/>
              <a:pathLst>
                <a:path w="2129788" h="354820">
                  <a:moveTo>
                    <a:pt x="12953" y="0"/>
                  </a:moveTo>
                  <a:lnTo>
                    <a:pt x="2116835" y="0"/>
                  </a:lnTo>
                  <a:cubicBezTo>
                    <a:pt x="2120270" y="0"/>
                    <a:pt x="2123565" y="1365"/>
                    <a:pt x="2125994" y="3794"/>
                  </a:cubicBezTo>
                  <a:cubicBezTo>
                    <a:pt x="2128423" y="6223"/>
                    <a:pt x="2129788" y="9518"/>
                    <a:pt x="2129788" y="12953"/>
                  </a:cubicBezTo>
                  <a:lnTo>
                    <a:pt x="2129788" y="341868"/>
                  </a:lnTo>
                  <a:cubicBezTo>
                    <a:pt x="2129788" y="345303"/>
                    <a:pt x="2128423" y="348597"/>
                    <a:pt x="2125994" y="351027"/>
                  </a:cubicBezTo>
                  <a:cubicBezTo>
                    <a:pt x="2123565" y="353456"/>
                    <a:pt x="2120270" y="354820"/>
                    <a:pt x="2116835" y="354820"/>
                  </a:cubicBezTo>
                  <a:lnTo>
                    <a:pt x="12953" y="354820"/>
                  </a:lnTo>
                  <a:cubicBezTo>
                    <a:pt x="9518" y="354820"/>
                    <a:pt x="6223" y="353456"/>
                    <a:pt x="3794" y="351027"/>
                  </a:cubicBezTo>
                  <a:cubicBezTo>
                    <a:pt x="1365" y="348597"/>
                    <a:pt x="0" y="345303"/>
                    <a:pt x="0" y="341868"/>
                  </a:cubicBezTo>
                  <a:lnTo>
                    <a:pt x="0" y="12953"/>
                  </a:lnTo>
                  <a:cubicBezTo>
                    <a:pt x="0" y="9518"/>
                    <a:pt x="1365" y="6223"/>
                    <a:pt x="3794" y="3794"/>
                  </a:cubicBezTo>
                  <a:cubicBezTo>
                    <a:pt x="6223" y="1365"/>
                    <a:pt x="9518" y="0"/>
                    <a:pt x="12953" y="0"/>
                  </a:cubicBezTo>
                  <a:close/>
                </a:path>
              </a:pathLst>
            </a:custGeom>
            <a:blipFill>
              <a:blip r:embed="rId3"/>
              <a:stretch>
                <a:fillRect t="-119375" b="-11937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6" name="TextBox 10">
            <a:extLst>
              <a:ext uri="{FF2B5EF4-FFF2-40B4-BE49-F238E27FC236}">
                <a16:creationId xmlns:a16="http://schemas.microsoft.com/office/drawing/2014/main" id="{E50F2EAE-E0DF-2819-9A18-5C0822F950E2}"/>
              </a:ext>
            </a:extLst>
          </p:cNvPr>
          <p:cNvSpPr txBox="1"/>
          <p:nvPr/>
        </p:nvSpPr>
        <p:spPr>
          <a:xfrm>
            <a:off x="10165230" y="758690"/>
            <a:ext cx="702059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הרקע</a:t>
            </a:r>
          </a:p>
        </p:txBody>
      </p:sp>
      <p:grpSp>
        <p:nvGrpSpPr>
          <p:cNvPr id="2" name="Group 2"/>
          <p:cNvGrpSpPr/>
          <p:nvPr/>
        </p:nvGrpSpPr>
        <p:grpSpPr>
          <a:xfrm rot="-10800000">
            <a:off x="177078" y="133348"/>
            <a:ext cx="10165228" cy="10020301"/>
            <a:chOff x="0" y="0"/>
            <a:chExt cx="2810186" cy="3032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10186" cy="3032035"/>
            </a:xfrm>
            <a:custGeom>
              <a:avLst/>
              <a:gdLst/>
              <a:ahLst/>
              <a:cxnLst/>
              <a:rect l="l" t="t" r="r" b="b"/>
              <a:pathLst>
                <a:path w="2810186" h="3032035">
                  <a:moveTo>
                    <a:pt x="0" y="0"/>
                  </a:moveTo>
                  <a:lnTo>
                    <a:pt x="2810186" y="0"/>
                  </a:lnTo>
                  <a:lnTo>
                    <a:pt x="2810186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10186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1082988" y="7026588"/>
            <a:ext cx="3792394" cy="2116845"/>
          </a:xfrm>
          <a:custGeom>
            <a:avLst/>
            <a:gdLst/>
            <a:ahLst/>
            <a:cxnLst/>
            <a:rect l="l" t="t" r="r" b="b"/>
            <a:pathLst>
              <a:path w="3792394" h="2116845">
                <a:moveTo>
                  <a:pt x="0" y="0"/>
                </a:moveTo>
                <a:lnTo>
                  <a:pt x="3792394" y="0"/>
                </a:lnTo>
                <a:lnTo>
                  <a:pt x="3792394" y="2116845"/>
                </a:lnTo>
                <a:lnTo>
                  <a:pt x="0" y="2116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 dirty="0"/>
          </a:p>
        </p:txBody>
      </p:sp>
      <p:sp>
        <p:nvSpPr>
          <p:cNvPr id="15" name="Freeform 15"/>
          <p:cNvSpPr/>
          <p:nvPr/>
        </p:nvSpPr>
        <p:spPr>
          <a:xfrm>
            <a:off x="14263537" y="6103685"/>
            <a:ext cx="3792394" cy="2116845"/>
          </a:xfrm>
          <a:custGeom>
            <a:avLst/>
            <a:gdLst/>
            <a:ahLst/>
            <a:cxnLst/>
            <a:rect l="l" t="t" r="r" b="b"/>
            <a:pathLst>
              <a:path w="3792394" h="2116845">
                <a:moveTo>
                  <a:pt x="0" y="0"/>
                </a:moveTo>
                <a:lnTo>
                  <a:pt x="3792394" y="0"/>
                </a:lnTo>
                <a:lnTo>
                  <a:pt x="3792394" y="2116845"/>
                </a:lnTo>
                <a:lnTo>
                  <a:pt x="0" y="2116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70A36F67-D0EA-FC80-AF24-DAC77DCBC28D}"/>
              </a:ext>
            </a:extLst>
          </p:cNvPr>
          <p:cNvSpPr txBox="1"/>
          <p:nvPr/>
        </p:nvSpPr>
        <p:spPr>
          <a:xfrm>
            <a:off x="567448" y="2753946"/>
            <a:ext cx="17330182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שוק </a:t>
            </a:r>
            <a:r>
              <a:rPr lang="he-IL" sz="36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הקריפטו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מאופיין בתנודתיות גבוהה ובהשפעה משמעותית של דעת קהל.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ציוצים והתבטאויות של גורמים בעלי השפעה גלובלית - עשויים לגרום לשינויים חדים במחיר </a:t>
            </a:r>
            <a:r>
              <a:rPr lang="he-IL" sz="36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הביטקוין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בפרקי זמן קצרים.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ניתוח סנטימנט מהווה כלי מרכזי להבנת הלך הרוח הציבורי ולזיהוי מוקדם של אותות סיכון או הזדמנות בשוק.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3">
            <a:extLst>
              <a:ext uri="{FF2B5EF4-FFF2-40B4-BE49-F238E27FC236}">
                <a16:creationId xmlns:a16="http://schemas.microsoft.com/office/drawing/2014/main" id="{C5241123-607F-76E8-8EBF-E450A194B127}"/>
              </a:ext>
            </a:extLst>
          </p:cNvPr>
          <p:cNvSpPr/>
          <p:nvPr/>
        </p:nvSpPr>
        <p:spPr>
          <a:xfrm>
            <a:off x="0" y="-1"/>
            <a:ext cx="18288000" cy="10287001"/>
          </a:xfrm>
          <a:custGeom>
            <a:avLst/>
            <a:gdLst/>
            <a:ahLst/>
            <a:cxnLst/>
            <a:rect l="l" t="t" r="r" b="b"/>
            <a:pathLst>
              <a:path w="2810186" h="3032035">
                <a:moveTo>
                  <a:pt x="0" y="0"/>
                </a:moveTo>
                <a:lnTo>
                  <a:pt x="2810186" y="0"/>
                </a:lnTo>
                <a:lnTo>
                  <a:pt x="2810186" y="3032035"/>
                </a:lnTo>
                <a:lnTo>
                  <a:pt x="0" y="3032035"/>
                </a:lnTo>
                <a:close/>
              </a:path>
            </a:pathLst>
          </a:custGeom>
          <a:gradFill rotWithShape="1">
            <a:gsLst>
              <a:gs pos="0">
                <a:srgbClr val="0B4DAF">
                  <a:alpha val="0"/>
                </a:srgbClr>
              </a:gs>
              <a:gs pos="50000">
                <a:srgbClr val="00090D">
                  <a:alpha val="49000"/>
                </a:srgbClr>
              </a:gs>
              <a:gs pos="100000">
                <a:srgbClr val="000000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he-IL" dirty="0"/>
          </a:p>
        </p:txBody>
      </p:sp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C2CE9EB5-0B81-9B7E-1BF5-DD719B937F22}"/>
              </a:ext>
            </a:extLst>
          </p:cNvPr>
          <p:cNvGrpSpPr/>
          <p:nvPr/>
        </p:nvGrpSpPr>
        <p:grpSpPr>
          <a:xfrm>
            <a:off x="1476931" y="889310"/>
            <a:ext cx="16412463" cy="8975082"/>
            <a:chOff x="1476931" y="889310"/>
            <a:chExt cx="16412463" cy="8975082"/>
          </a:xfrm>
        </p:grpSpPr>
        <p:sp>
          <p:nvSpPr>
            <p:cNvPr id="11" name="Freeform 11"/>
            <p:cNvSpPr/>
            <p:nvPr/>
          </p:nvSpPr>
          <p:spPr>
            <a:xfrm>
              <a:off x="14097000" y="7747547"/>
              <a:ext cx="3792394" cy="2116845"/>
            </a:xfrm>
            <a:custGeom>
              <a:avLst/>
              <a:gdLst/>
              <a:ahLst/>
              <a:cxnLst/>
              <a:rect l="l" t="t" r="r" b="b"/>
              <a:pathLst>
                <a:path w="3792394" h="2116845">
                  <a:moveTo>
                    <a:pt x="0" y="0"/>
                  </a:moveTo>
                  <a:lnTo>
                    <a:pt x="3792393" y="0"/>
                  </a:lnTo>
                  <a:lnTo>
                    <a:pt x="3792393" y="2116845"/>
                  </a:lnTo>
                  <a:lnTo>
                    <a:pt x="0" y="2116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664CD3B8-FEC5-869C-1BB7-EC92ACC0222F}"/>
                </a:ext>
              </a:extLst>
            </p:cNvPr>
            <p:cNvSpPr txBox="1"/>
            <p:nvPr/>
          </p:nvSpPr>
          <p:spPr>
            <a:xfrm>
              <a:off x="1476931" y="889310"/>
              <a:ext cx="14983975" cy="15002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>
                <a:lnSpc>
                  <a:spcPts val="12455"/>
                </a:lnSpc>
                <a:spcBef>
                  <a:spcPct val="0"/>
                </a:spcBef>
              </a:pPr>
              <a:r>
                <a:rPr lang="he-IL" sz="8800" b="1" dirty="0">
                  <a:solidFill>
                    <a:srgbClr val="A6CBF5"/>
                  </a:solidFill>
                  <a:ea typeface="Calibri (MS) Bold"/>
                  <a:cs typeface="Calibri (MS) Bold"/>
                  <a:sym typeface="Calibri (MS) Bold"/>
                  <a:rtl/>
                </a:rPr>
                <a:t>האם </a:t>
              </a:r>
              <a:r>
                <a:rPr lang="he-IL" sz="8800" b="1" dirty="0" err="1">
                  <a:solidFill>
                    <a:srgbClr val="A6CBF5"/>
                  </a:solidFill>
                  <a:ea typeface="Calibri (MS) Bold"/>
                  <a:cs typeface="Calibri (MS) Bold"/>
                  <a:sym typeface="Calibri (MS) Bold"/>
                  <a:rtl/>
                </a:rPr>
                <a:t>הטוויטר</a:t>
              </a:r>
              <a:r>
                <a:rPr lang="he-IL" sz="8800" b="1" dirty="0">
                  <a:solidFill>
                    <a:srgbClr val="A6CBF5"/>
                  </a:solidFill>
                  <a:ea typeface="Calibri (MS) Bold"/>
                  <a:cs typeface="Calibri (MS) Bold"/>
                  <a:sym typeface="Calibri (MS) Bold"/>
                  <a:rtl/>
                </a:rPr>
                <a:t> יודע לאן הולך השוק?</a:t>
              </a:r>
            </a:p>
          </p:txBody>
        </p:sp>
      </p:grpSp>
      <p:grpSp>
        <p:nvGrpSpPr>
          <p:cNvPr id="32" name="קבוצה 31">
            <a:extLst>
              <a:ext uri="{FF2B5EF4-FFF2-40B4-BE49-F238E27FC236}">
                <a16:creationId xmlns:a16="http://schemas.microsoft.com/office/drawing/2014/main" id="{018477A2-D369-8DF0-252A-943B277AC817}"/>
              </a:ext>
            </a:extLst>
          </p:cNvPr>
          <p:cNvGrpSpPr/>
          <p:nvPr/>
        </p:nvGrpSpPr>
        <p:grpSpPr>
          <a:xfrm>
            <a:off x="1341316" y="2815538"/>
            <a:ext cx="15605368" cy="6999733"/>
            <a:chOff x="1110598" y="2864659"/>
            <a:chExt cx="16323570" cy="7018020"/>
          </a:xfrm>
        </p:grpSpPr>
        <p:grpSp>
          <p:nvGrpSpPr>
            <p:cNvPr id="29" name="קבוצה 28">
              <a:extLst>
                <a:ext uri="{FF2B5EF4-FFF2-40B4-BE49-F238E27FC236}">
                  <a16:creationId xmlns:a16="http://schemas.microsoft.com/office/drawing/2014/main" id="{71555810-C20E-8840-4F39-274EDB91FAD0}"/>
                </a:ext>
              </a:extLst>
            </p:cNvPr>
            <p:cNvGrpSpPr/>
            <p:nvPr/>
          </p:nvGrpSpPr>
          <p:grpSpPr>
            <a:xfrm>
              <a:off x="12402260" y="2864659"/>
              <a:ext cx="5031908" cy="7010400"/>
              <a:chOff x="12323414" y="3873773"/>
              <a:chExt cx="5031908" cy="7010400"/>
            </a:xfrm>
          </p:grpSpPr>
          <p:sp>
            <p:nvSpPr>
              <p:cNvPr id="27" name="תיבת טקסט 26">
                <a:extLst>
                  <a:ext uri="{FF2B5EF4-FFF2-40B4-BE49-F238E27FC236}">
                    <a16:creationId xmlns:a16="http://schemas.microsoft.com/office/drawing/2014/main" id="{CE4795CB-DEFB-465D-6BA6-F9E4D41BCC07}"/>
                  </a:ext>
                </a:extLst>
              </p:cNvPr>
              <p:cNvSpPr txBox="1"/>
              <p:nvPr/>
            </p:nvSpPr>
            <p:spPr>
              <a:xfrm>
                <a:off x="12323414" y="3873773"/>
                <a:ext cx="5031908" cy="701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endParaRPr lang="he-IL" dirty="0"/>
              </a:p>
            </p:txBody>
          </p:sp>
          <p:pic>
            <p:nvPicPr>
              <p:cNvPr id="20" name="תמונה 19" descr="תמונה שמכילה סמל, טקסט, גופן, לוגו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268A8B71-0AC6-D6E1-69D8-2F5B2549F2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28905" y="4119531"/>
                <a:ext cx="1620926" cy="1500219"/>
              </a:xfrm>
              <a:prstGeom prst="rect">
                <a:avLst/>
              </a:prstGeom>
            </p:spPr>
          </p:pic>
        </p:grpSp>
        <p:grpSp>
          <p:nvGrpSpPr>
            <p:cNvPr id="30" name="קבוצה 29">
              <a:extLst>
                <a:ext uri="{FF2B5EF4-FFF2-40B4-BE49-F238E27FC236}">
                  <a16:creationId xmlns:a16="http://schemas.microsoft.com/office/drawing/2014/main" id="{BB9E4549-E736-A4B6-2D2A-92E664AFF86C}"/>
                </a:ext>
              </a:extLst>
            </p:cNvPr>
            <p:cNvGrpSpPr/>
            <p:nvPr/>
          </p:nvGrpSpPr>
          <p:grpSpPr>
            <a:xfrm>
              <a:off x="6756429" y="2864659"/>
              <a:ext cx="5031908" cy="7010400"/>
              <a:chOff x="6675139" y="7747547"/>
              <a:chExt cx="5031908" cy="7010400"/>
            </a:xfrm>
          </p:grpSpPr>
          <p:sp>
            <p:nvSpPr>
              <p:cNvPr id="26" name="תיבת טקסט 25">
                <a:extLst>
                  <a:ext uri="{FF2B5EF4-FFF2-40B4-BE49-F238E27FC236}">
                    <a16:creationId xmlns:a16="http://schemas.microsoft.com/office/drawing/2014/main" id="{F60912A8-7FE2-5834-4634-77D6EA12D457}"/>
                  </a:ext>
                </a:extLst>
              </p:cNvPr>
              <p:cNvSpPr txBox="1"/>
              <p:nvPr/>
            </p:nvSpPr>
            <p:spPr>
              <a:xfrm>
                <a:off x="6675139" y="7747547"/>
                <a:ext cx="5031908" cy="701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endParaRPr lang="he-IL" dirty="0"/>
              </a:p>
            </p:txBody>
          </p:sp>
          <p:pic>
            <p:nvPicPr>
              <p:cNvPr id="22" name="תמונה 21" descr="תמונה שמכילה גופן, סמל, טקסט, גרפיקה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6A2A094F-F063-7BA0-6674-776E6D11EA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89884" y="7952484"/>
                <a:ext cx="1626745" cy="1500219"/>
              </a:xfrm>
              <a:prstGeom prst="rect">
                <a:avLst/>
              </a:prstGeom>
            </p:spPr>
          </p:pic>
        </p:grpSp>
        <p:grpSp>
          <p:nvGrpSpPr>
            <p:cNvPr id="31" name="קבוצה 30">
              <a:extLst>
                <a:ext uri="{FF2B5EF4-FFF2-40B4-BE49-F238E27FC236}">
                  <a16:creationId xmlns:a16="http://schemas.microsoft.com/office/drawing/2014/main" id="{561EA718-9A5D-34A2-B389-736F316C5BEA}"/>
                </a:ext>
              </a:extLst>
            </p:cNvPr>
            <p:cNvGrpSpPr/>
            <p:nvPr/>
          </p:nvGrpSpPr>
          <p:grpSpPr>
            <a:xfrm>
              <a:off x="1110598" y="2872279"/>
              <a:ext cx="5031908" cy="7010400"/>
              <a:chOff x="1110598" y="5829300"/>
              <a:chExt cx="5031908" cy="7010400"/>
            </a:xfrm>
          </p:grpSpPr>
          <p:sp>
            <p:nvSpPr>
              <p:cNvPr id="25" name="תיבת טקסט 24">
                <a:extLst>
                  <a:ext uri="{FF2B5EF4-FFF2-40B4-BE49-F238E27FC236}">
                    <a16:creationId xmlns:a16="http://schemas.microsoft.com/office/drawing/2014/main" id="{4BBB18C0-F5CC-C382-5788-EACB9419A97A}"/>
                  </a:ext>
                </a:extLst>
              </p:cNvPr>
              <p:cNvSpPr txBox="1"/>
              <p:nvPr/>
            </p:nvSpPr>
            <p:spPr>
              <a:xfrm>
                <a:off x="1110598" y="5829300"/>
                <a:ext cx="5031908" cy="701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endParaRPr lang="he-IL" dirty="0"/>
              </a:p>
            </p:txBody>
          </p:sp>
          <p:pic>
            <p:nvPicPr>
              <p:cNvPr id="24" name="תמונה 23" descr="תמונה שמכילה גופן, טקסט, גרפיקה, לבן&#10;&#10;תוכן בינה מלאכותית גנרטיבית עשוי להיות שגוי.">
                <a:extLst>
                  <a:ext uri="{FF2B5EF4-FFF2-40B4-BE49-F238E27FC236}">
                    <a16:creationId xmlns:a16="http://schemas.microsoft.com/office/drawing/2014/main" id="{06149F5A-1134-CA44-AA8D-B9DC89C214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49532" y="6175008"/>
                <a:ext cx="1554039" cy="1572539"/>
              </a:xfrm>
              <a:prstGeom prst="rect">
                <a:avLst/>
              </a:prstGeom>
            </p:spPr>
          </p:pic>
        </p:grpSp>
      </p:grp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D7B3356D-C813-19FA-D311-21B8AF5AD9B6}"/>
              </a:ext>
            </a:extLst>
          </p:cNvPr>
          <p:cNvSpPr txBox="1"/>
          <p:nvPr/>
        </p:nvSpPr>
        <p:spPr>
          <a:xfrm>
            <a:off x="11753456" y="4606031"/>
            <a:ext cx="402633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ההשערה: </a:t>
            </a:r>
          </a:p>
        </p:txBody>
      </p:sp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0E0CEF9F-1FE1-2630-BA9F-EE03E14A749D}"/>
              </a:ext>
            </a:extLst>
          </p:cNvPr>
          <p:cNvSpPr txBox="1"/>
          <p:nvPr/>
        </p:nvSpPr>
        <p:spPr>
          <a:xfrm>
            <a:off x="7249715" y="4567930"/>
            <a:ext cx="402633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השאלה: </a:t>
            </a:r>
          </a:p>
        </p:txBody>
      </p: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C141549D-6378-23C7-3ED8-405DF888CE60}"/>
              </a:ext>
            </a:extLst>
          </p:cNvPr>
          <p:cNvSpPr txBox="1"/>
          <p:nvPr/>
        </p:nvSpPr>
        <p:spPr>
          <a:xfrm>
            <a:off x="1733407" y="4657716"/>
            <a:ext cx="402633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הבעיה: </a:t>
            </a:r>
          </a:p>
        </p:txBody>
      </p:sp>
      <p:sp>
        <p:nvSpPr>
          <p:cNvPr id="36" name="תיבת טקסט 35">
            <a:extLst>
              <a:ext uri="{FF2B5EF4-FFF2-40B4-BE49-F238E27FC236}">
                <a16:creationId xmlns:a16="http://schemas.microsoft.com/office/drawing/2014/main" id="{590154CD-6DA3-29C0-35DB-4B2F2C7F5DC6}"/>
              </a:ext>
            </a:extLst>
          </p:cNvPr>
          <p:cNvSpPr txBox="1"/>
          <p:nvPr/>
        </p:nvSpPr>
        <p:spPr>
          <a:xfrm>
            <a:off x="12719859" y="5355205"/>
            <a:ext cx="4026331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הנחו שמודל למידה עמוקה יצליח לזהות דפוסים מורכבים ואירוניה בטקסט.</a:t>
            </a:r>
          </a:p>
        </p:txBody>
      </p: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2C6A2E3A-DE2C-EAF6-315D-5DF834D02933}"/>
              </a:ext>
            </a:extLst>
          </p:cNvPr>
          <p:cNvSpPr txBox="1"/>
          <p:nvPr/>
        </p:nvSpPr>
        <p:spPr>
          <a:xfrm>
            <a:off x="7219235" y="5252362"/>
            <a:ext cx="4026331" cy="3416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האם ניתן לחלץ אות (</a:t>
            </a:r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signal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) סטטיסטי מובהק מתוך ציוצים כדי לחזות את </a:t>
            </a:r>
            <a:r>
              <a:rPr lang="he-IL" sz="36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הביטקוין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?</a:t>
            </a:r>
          </a:p>
        </p:txBody>
      </p:sp>
      <p:sp>
        <p:nvSpPr>
          <p:cNvPr id="38" name="תיבת טקסט 37">
            <a:extLst>
              <a:ext uri="{FF2B5EF4-FFF2-40B4-BE49-F238E27FC236}">
                <a16:creationId xmlns:a16="http://schemas.microsoft.com/office/drawing/2014/main" id="{04976B25-94BB-BEAD-919B-215AD20FB422}"/>
              </a:ext>
            </a:extLst>
          </p:cNvPr>
          <p:cNvSpPr txBox="1"/>
          <p:nvPr/>
        </p:nvSpPr>
        <p:spPr>
          <a:xfrm>
            <a:off x="1784942" y="5252362"/>
            <a:ext cx="4026331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שוק </a:t>
            </a:r>
            <a:r>
              <a:rPr lang="he-IL" sz="36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הקריפטו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מונע מרגש, פחד ו</a:t>
            </a:r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Hype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 </a:t>
            </a:r>
          </a:p>
          <a:p>
            <a:pPr algn="ct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התנודתיות גבוהה והחיזוי קשה.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98A9C-BBA2-E019-40D5-FFEAE483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3">
            <a:extLst>
              <a:ext uri="{FF2B5EF4-FFF2-40B4-BE49-F238E27FC236}">
                <a16:creationId xmlns:a16="http://schemas.microsoft.com/office/drawing/2014/main" id="{A033295B-C63A-43E8-4056-F7BB296D53E9}"/>
              </a:ext>
            </a:extLst>
          </p:cNvPr>
          <p:cNvSpPr/>
          <p:nvPr/>
        </p:nvSpPr>
        <p:spPr>
          <a:xfrm>
            <a:off x="0" y="-1"/>
            <a:ext cx="18288000" cy="10287001"/>
          </a:xfrm>
          <a:custGeom>
            <a:avLst/>
            <a:gdLst/>
            <a:ahLst/>
            <a:cxnLst/>
            <a:rect l="l" t="t" r="r" b="b"/>
            <a:pathLst>
              <a:path w="2810186" h="3032035">
                <a:moveTo>
                  <a:pt x="0" y="0"/>
                </a:moveTo>
                <a:lnTo>
                  <a:pt x="2810186" y="0"/>
                </a:lnTo>
                <a:lnTo>
                  <a:pt x="2810186" y="3032035"/>
                </a:lnTo>
                <a:lnTo>
                  <a:pt x="0" y="3032035"/>
                </a:lnTo>
                <a:close/>
              </a:path>
            </a:pathLst>
          </a:custGeom>
          <a:gradFill rotWithShape="1">
            <a:gsLst>
              <a:gs pos="0">
                <a:srgbClr val="0B4DAF">
                  <a:alpha val="0"/>
                </a:srgbClr>
              </a:gs>
              <a:gs pos="50000">
                <a:srgbClr val="00090D">
                  <a:alpha val="49000"/>
                </a:srgbClr>
              </a:gs>
              <a:gs pos="100000">
                <a:srgbClr val="000000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he-IL" dirty="0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4F125C6-6955-668B-82A1-3108211914F9}"/>
              </a:ext>
            </a:extLst>
          </p:cNvPr>
          <p:cNvSpPr txBox="1"/>
          <p:nvPr/>
        </p:nvSpPr>
        <p:spPr>
          <a:xfrm>
            <a:off x="10742720" y="917613"/>
            <a:ext cx="702059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שלבי העבודה:</a:t>
            </a:r>
          </a:p>
        </p:txBody>
      </p:sp>
      <p:grpSp>
        <p:nvGrpSpPr>
          <p:cNvPr id="45" name="קבוצה 44">
            <a:extLst>
              <a:ext uri="{FF2B5EF4-FFF2-40B4-BE49-F238E27FC236}">
                <a16:creationId xmlns:a16="http://schemas.microsoft.com/office/drawing/2014/main" id="{5A077B88-9B98-BD58-C62E-079F4B85C1C2}"/>
              </a:ext>
            </a:extLst>
          </p:cNvPr>
          <p:cNvGrpSpPr/>
          <p:nvPr/>
        </p:nvGrpSpPr>
        <p:grpSpPr>
          <a:xfrm>
            <a:off x="1180203" y="2417832"/>
            <a:ext cx="16583108" cy="7756693"/>
            <a:chOff x="1180203" y="2417832"/>
            <a:chExt cx="16583108" cy="9128637"/>
          </a:xfrm>
        </p:grpSpPr>
        <p:sp>
          <p:nvSpPr>
            <p:cNvPr id="2" name="תיבת טקסט 1">
              <a:extLst>
                <a:ext uri="{FF2B5EF4-FFF2-40B4-BE49-F238E27FC236}">
                  <a16:creationId xmlns:a16="http://schemas.microsoft.com/office/drawing/2014/main" id="{3D24DDF1-0BF1-2FCA-E7A9-7007EEEFA8A7}"/>
                </a:ext>
              </a:extLst>
            </p:cNvPr>
            <p:cNvSpPr txBox="1"/>
            <p:nvPr/>
          </p:nvSpPr>
          <p:spPr>
            <a:xfrm>
              <a:off x="5152174" y="2783897"/>
              <a:ext cx="11550866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r" rtl="1"/>
              <a:r>
                <a:rPr lang="he-IL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נתונים – ציוצים, מחירי </a:t>
              </a:r>
              <a:r>
                <a:rPr lang="en-US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BTC</a:t>
              </a:r>
              <a:r>
                <a:rPr lang="he-IL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יומיים מתוך </a:t>
              </a:r>
              <a:r>
                <a:rPr lang="en-US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Yahoo Finance</a:t>
              </a:r>
              <a:endPara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grpSp>
          <p:nvGrpSpPr>
            <p:cNvPr id="38" name="קבוצה 37">
              <a:extLst>
                <a:ext uri="{FF2B5EF4-FFF2-40B4-BE49-F238E27FC236}">
                  <a16:creationId xmlns:a16="http://schemas.microsoft.com/office/drawing/2014/main" id="{D2D069D2-FB12-6CC4-1CCD-4C54B30861BF}"/>
                </a:ext>
              </a:extLst>
            </p:cNvPr>
            <p:cNvGrpSpPr/>
            <p:nvPr/>
          </p:nvGrpSpPr>
          <p:grpSpPr>
            <a:xfrm>
              <a:off x="1180203" y="2417832"/>
              <a:ext cx="16583108" cy="9128637"/>
              <a:chOff x="1129460" y="2643258"/>
              <a:chExt cx="16583108" cy="9128637"/>
            </a:xfrm>
          </p:grpSpPr>
          <p:grpSp>
            <p:nvGrpSpPr>
              <p:cNvPr id="8" name="Group 18">
                <a:extLst>
                  <a:ext uri="{FF2B5EF4-FFF2-40B4-BE49-F238E27FC236}">
                    <a16:creationId xmlns:a16="http://schemas.microsoft.com/office/drawing/2014/main" id="{D3F14925-398F-EDFB-FE7D-D1415A6C1900}"/>
                  </a:ext>
                </a:extLst>
              </p:cNvPr>
              <p:cNvGrpSpPr/>
              <p:nvPr/>
            </p:nvGrpSpPr>
            <p:grpSpPr>
              <a:xfrm rot="10800000">
                <a:off x="1149967" y="2643258"/>
                <a:ext cx="16562601" cy="1378463"/>
                <a:chOff x="0" y="0"/>
                <a:chExt cx="2132346" cy="456573"/>
              </a:xfrm>
            </p:grpSpPr>
            <p:sp>
              <p:nvSpPr>
                <p:cNvPr id="22" name="Freeform 19">
                  <a:extLst>
                    <a:ext uri="{FF2B5EF4-FFF2-40B4-BE49-F238E27FC236}">
                      <a16:creationId xmlns:a16="http://schemas.microsoft.com/office/drawing/2014/main" id="{13B733DE-1D84-4F76-3B87-EB8214BE80E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32346" cy="456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346" h="456573">
                      <a:moveTo>
                        <a:pt x="26775" y="0"/>
                      </a:moveTo>
                      <a:lnTo>
                        <a:pt x="2105571" y="0"/>
                      </a:lnTo>
                      <a:cubicBezTo>
                        <a:pt x="2112672" y="0"/>
                        <a:pt x="2119482" y="2821"/>
                        <a:pt x="2124503" y="7842"/>
                      </a:cubicBezTo>
                      <a:cubicBezTo>
                        <a:pt x="2129525" y="12863"/>
                        <a:pt x="2132346" y="19674"/>
                        <a:pt x="2132346" y="26775"/>
                      </a:cubicBezTo>
                      <a:lnTo>
                        <a:pt x="2132346" y="429798"/>
                      </a:lnTo>
                      <a:cubicBezTo>
                        <a:pt x="2132346" y="436899"/>
                        <a:pt x="2129525" y="443710"/>
                        <a:pt x="2124503" y="448731"/>
                      </a:cubicBezTo>
                      <a:cubicBezTo>
                        <a:pt x="2119482" y="453752"/>
                        <a:pt x="2112672" y="456573"/>
                        <a:pt x="2105571" y="456573"/>
                      </a:cubicBezTo>
                      <a:lnTo>
                        <a:pt x="26775" y="456573"/>
                      </a:lnTo>
                      <a:cubicBezTo>
                        <a:pt x="19674" y="456573"/>
                        <a:pt x="12863" y="453752"/>
                        <a:pt x="7842" y="448731"/>
                      </a:cubicBezTo>
                      <a:cubicBezTo>
                        <a:pt x="2821" y="443710"/>
                        <a:pt x="0" y="436899"/>
                        <a:pt x="0" y="429798"/>
                      </a:cubicBezTo>
                      <a:lnTo>
                        <a:pt x="0" y="26775"/>
                      </a:lnTo>
                      <a:cubicBezTo>
                        <a:pt x="0" y="19674"/>
                        <a:pt x="2821" y="12863"/>
                        <a:pt x="7842" y="7842"/>
                      </a:cubicBezTo>
                      <a:cubicBezTo>
                        <a:pt x="12863" y="2821"/>
                        <a:pt x="19674" y="0"/>
                        <a:pt x="26775" y="0"/>
                      </a:cubicBezTo>
                      <a:close/>
                    </a:path>
                  </a:pathLst>
                </a:custGeom>
                <a:ln w="38100" cap="rnd">
                  <a:gradFill>
                    <a:gsLst>
                      <a:gs pos="0">
                        <a:srgbClr val="15C0E9">
                          <a:alpha val="100000"/>
                        </a:srgbClr>
                      </a:gs>
                      <a:gs pos="100000">
                        <a:srgbClr val="00579A">
                          <a:alpha val="5000"/>
                        </a:srgbClr>
                      </a:gs>
                    </a:gsLst>
                    <a:lin ang="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he-IL" dirty="0"/>
                </a:p>
              </p:txBody>
            </p:sp>
            <p:sp>
              <p:nvSpPr>
                <p:cNvPr id="23" name="TextBox 20">
                  <a:extLst>
                    <a:ext uri="{FF2B5EF4-FFF2-40B4-BE49-F238E27FC236}">
                      <a16:creationId xmlns:a16="http://schemas.microsoft.com/office/drawing/2014/main" id="{07704EA1-7F90-A294-3828-BDBFE4A81D55}"/>
                    </a:ext>
                  </a:extLst>
                </p:cNvPr>
                <p:cNvSpPr txBox="1"/>
                <p:nvPr/>
              </p:nvSpPr>
              <p:spPr>
                <a:xfrm>
                  <a:off x="0" y="19050"/>
                  <a:ext cx="2132346" cy="43752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971"/>
                    </a:lnSpc>
                  </a:pPr>
                  <a:endParaRPr/>
                </a:p>
              </p:txBody>
            </p:sp>
          </p:grpSp>
          <p:grpSp>
            <p:nvGrpSpPr>
              <p:cNvPr id="9" name="Group 18">
                <a:extLst>
                  <a:ext uri="{FF2B5EF4-FFF2-40B4-BE49-F238E27FC236}">
                    <a16:creationId xmlns:a16="http://schemas.microsoft.com/office/drawing/2014/main" id="{A5EAEBC3-8B77-7C1F-047F-96614AACCA9E}"/>
                  </a:ext>
                </a:extLst>
              </p:cNvPr>
              <p:cNvGrpSpPr/>
              <p:nvPr/>
            </p:nvGrpSpPr>
            <p:grpSpPr>
              <a:xfrm rot="10800000">
                <a:off x="1149967" y="4170435"/>
                <a:ext cx="16562601" cy="1378463"/>
                <a:chOff x="0" y="0"/>
                <a:chExt cx="2132346" cy="456573"/>
              </a:xfrm>
            </p:grpSpPr>
            <p:sp>
              <p:nvSpPr>
                <p:cNvPr id="18" name="Freeform 19">
                  <a:extLst>
                    <a:ext uri="{FF2B5EF4-FFF2-40B4-BE49-F238E27FC236}">
                      <a16:creationId xmlns:a16="http://schemas.microsoft.com/office/drawing/2014/main" id="{7ADAD439-E9B8-AF75-8AA9-DCBFC6DCD8D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32346" cy="456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346" h="456573">
                      <a:moveTo>
                        <a:pt x="26775" y="0"/>
                      </a:moveTo>
                      <a:lnTo>
                        <a:pt x="2105571" y="0"/>
                      </a:lnTo>
                      <a:cubicBezTo>
                        <a:pt x="2112672" y="0"/>
                        <a:pt x="2119482" y="2821"/>
                        <a:pt x="2124503" y="7842"/>
                      </a:cubicBezTo>
                      <a:cubicBezTo>
                        <a:pt x="2129525" y="12863"/>
                        <a:pt x="2132346" y="19674"/>
                        <a:pt x="2132346" y="26775"/>
                      </a:cubicBezTo>
                      <a:lnTo>
                        <a:pt x="2132346" y="429798"/>
                      </a:lnTo>
                      <a:cubicBezTo>
                        <a:pt x="2132346" y="436899"/>
                        <a:pt x="2129525" y="443710"/>
                        <a:pt x="2124503" y="448731"/>
                      </a:cubicBezTo>
                      <a:cubicBezTo>
                        <a:pt x="2119482" y="453752"/>
                        <a:pt x="2112672" y="456573"/>
                        <a:pt x="2105571" y="456573"/>
                      </a:cubicBezTo>
                      <a:lnTo>
                        <a:pt x="26775" y="456573"/>
                      </a:lnTo>
                      <a:cubicBezTo>
                        <a:pt x="19674" y="456573"/>
                        <a:pt x="12863" y="453752"/>
                        <a:pt x="7842" y="448731"/>
                      </a:cubicBezTo>
                      <a:cubicBezTo>
                        <a:pt x="2821" y="443710"/>
                        <a:pt x="0" y="436899"/>
                        <a:pt x="0" y="429798"/>
                      </a:cubicBezTo>
                      <a:lnTo>
                        <a:pt x="0" y="26775"/>
                      </a:lnTo>
                      <a:cubicBezTo>
                        <a:pt x="0" y="19674"/>
                        <a:pt x="2821" y="12863"/>
                        <a:pt x="7842" y="7842"/>
                      </a:cubicBezTo>
                      <a:cubicBezTo>
                        <a:pt x="12863" y="2821"/>
                        <a:pt x="19674" y="0"/>
                        <a:pt x="26775" y="0"/>
                      </a:cubicBezTo>
                      <a:close/>
                    </a:path>
                  </a:pathLst>
                </a:custGeom>
                <a:ln w="38100" cap="rnd">
                  <a:gradFill>
                    <a:gsLst>
                      <a:gs pos="0">
                        <a:srgbClr val="15C0E9">
                          <a:alpha val="100000"/>
                        </a:srgbClr>
                      </a:gs>
                      <a:gs pos="100000">
                        <a:srgbClr val="00579A">
                          <a:alpha val="5000"/>
                        </a:srgbClr>
                      </a:gs>
                    </a:gsLst>
                    <a:lin ang="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he-IL" dirty="0"/>
                </a:p>
              </p:txBody>
            </p:sp>
            <p:sp>
              <p:nvSpPr>
                <p:cNvPr id="19" name="TextBox 20">
                  <a:extLst>
                    <a:ext uri="{FF2B5EF4-FFF2-40B4-BE49-F238E27FC236}">
                      <a16:creationId xmlns:a16="http://schemas.microsoft.com/office/drawing/2014/main" id="{8B52AAD5-FB5E-9349-9AC2-33DB2F29B6CF}"/>
                    </a:ext>
                  </a:extLst>
                </p:cNvPr>
                <p:cNvSpPr txBox="1"/>
                <p:nvPr/>
              </p:nvSpPr>
              <p:spPr>
                <a:xfrm>
                  <a:off x="0" y="19050"/>
                  <a:ext cx="2132346" cy="43752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971"/>
                    </a:lnSpc>
                  </a:pPr>
                  <a:endParaRPr/>
                </a:p>
              </p:txBody>
            </p:sp>
          </p:grpSp>
          <p:grpSp>
            <p:nvGrpSpPr>
              <p:cNvPr id="10" name="Group 18">
                <a:extLst>
                  <a:ext uri="{FF2B5EF4-FFF2-40B4-BE49-F238E27FC236}">
                    <a16:creationId xmlns:a16="http://schemas.microsoft.com/office/drawing/2014/main" id="{08B0E9F3-FF53-ABEC-A540-928B1AF34455}"/>
                  </a:ext>
                </a:extLst>
              </p:cNvPr>
              <p:cNvGrpSpPr/>
              <p:nvPr/>
            </p:nvGrpSpPr>
            <p:grpSpPr>
              <a:xfrm rot="10800000">
                <a:off x="1149967" y="5697611"/>
                <a:ext cx="16562601" cy="1378463"/>
                <a:chOff x="0" y="0"/>
                <a:chExt cx="2132346" cy="456573"/>
              </a:xfrm>
            </p:grpSpPr>
            <p:sp>
              <p:nvSpPr>
                <p:cNvPr id="15" name="Freeform 19">
                  <a:extLst>
                    <a:ext uri="{FF2B5EF4-FFF2-40B4-BE49-F238E27FC236}">
                      <a16:creationId xmlns:a16="http://schemas.microsoft.com/office/drawing/2014/main" id="{C908FEC0-3E64-DD19-4994-1F3FA67F32F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32346" cy="456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346" h="456573">
                      <a:moveTo>
                        <a:pt x="26775" y="0"/>
                      </a:moveTo>
                      <a:lnTo>
                        <a:pt x="2105571" y="0"/>
                      </a:lnTo>
                      <a:cubicBezTo>
                        <a:pt x="2112672" y="0"/>
                        <a:pt x="2119482" y="2821"/>
                        <a:pt x="2124503" y="7842"/>
                      </a:cubicBezTo>
                      <a:cubicBezTo>
                        <a:pt x="2129525" y="12863"/>
                        <a:pt x="2132346" y="19674"/>
                        <a:pt x="2132346" y="26775"/>
                      </a:cubicBezTo>
                      <a:lnTo>
                        <a:pt x="2132346" y="429798"/>
                      </a:lnTo>
                      <a:cubicBezTo>
                        <a:pt x="2132346" y="436899"/>
                        <a:pt x="2129525" y="443710"/>
                        <a:pt x="2124503" y="448731"/>
                      </a:cubicBezTo>
                      <a:cubicBezTo>
                        <a:pt x="2119482" y="453752"/>
                        <a:pt x="2112672" y="456573"/>
                        <a:pt x="2105571" y="456573"/>
                      </a:cubicBezTo>
                      <a:lnTo>
                        <a:pt x="26775" y="456573"/>
                      </a:lnTo>
                      <a:cubicBezTo>
                        <a:pt x="19674" y="456573"/>
                        <a:pt x="12863" y="453752"/>
                        <a:pt x="7842" y="448731"/>
                      </a:cubicBezTo>
                      <a:cubicBezTo>
                        <a:pt x="2821" y="443710"/>
                        <a:pt x="0" y="436899"/>
                        <a:pt x="0" y="429798"/>
                      </a:cubicBezTo>
                      <a:lnTo>
                        <a:pt x="0" y="26775"/>
                      </a:lnTo>
                      <a:cubicBezTo>
                        <a:pt x="0" y="19674"/>
                        <a:pt x="2821" y="12863"/>
                        <a:pt x="7842" y="7842"/>
                      </a:cubicBezTo>
                      <a:cubicBezTo>
                        <a:pt x="12863" y="2821"/>
                        <a:pt x="19674" y="0"/>
                        <a:pt x="26775" y="0"/>
                      </a:cubicBezTo>
                      <a:close/>
                    </a:path>
                  </a:pathLst>
                </a:custGeom>
                <a:ln w="38100" cap="rnd">
                  <a:gradFill>
                    <a:gsLst>
                      <a:gs pos="0">
                        <a:srgbClr val="15C0E9">
                          <a:alpha val="100000"/>
                        </a:srgbClr>
                      </a:gs>
                      <a:gs pos="100000">
                        <a:srgbClr val="00579A">
                          <a:alpha val="5000"/>
                        </a:srgbClr>
                      </a:gs>
                    </a:gsLst>
                    <a:lin ang="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he-IL"/>
                </a:p>
              </p:txBody>
            </p:sp>
            <p:sp>
              <p:nvSpPr>
                <p:cNvPr id="16" name="TextBox 20">
                  <a:extLst>
                    <a:ext uri="{FF2B5EF4-FFF2-40B4-BE49-F238E27FC236}">
                      <a16:creationId xmlns:a16="http://schemas.microsoft.com/office/drawing/2014/main" id="{A8BB2EE5-E075-A285-6A26-9B2FB3B8DCA3}"/>
                    </a:ext>
                  </a:extLst>
                </p:cNvPr>
                <p:cNvSpPr txBox="1"/>
                <p:nvPr/>
              </p:nvSpPr>
              <p:spPr>
                <a:xfrm>
                  <a:off x="0" y="19050"/>
                  <a:ext cx="2132346" cy="43752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971"/>
                    </a:lnSpc>
                  </a:pPr>
                  <a:endParaRPr/>
                </a:p>
              </p:txBody>
            </p:sp>
          </p:grpSp>
          <p:grpSp>
            <p:nvGrpSpPr>
              <p:cNvPr id="11" name="Group 18">
                <a:extLst>
                  <a:ext uri="{FF2B5EF4-FFF2-40B4-BE49-F238E27FC236}">
                    <a16:creationId xmlns:a16="http://schemas.microsoft.com/office/drawing/2014/main" id="{DA0E579C-A4AF-7A03-14DD-F88228B4C20D}"/>
                  </a:ext>
                </a:extLst>
              </p:cNvPr>
              <p:cNvGrpSpPr/>
              <p:nvPr/>
            </p:nvGrpSpPr>
            <p:grpSpPr>
              <a:xfrm rot="10800000">
                <a:off x="1129460" y="7224788"/>
                <a:ext cx="16583108" cy="4547107"/>
                <a:chOff x="0" y="-1049515"/>
                <a:chExt cx="2134986" cy="1506088"/>
              </a:xfrm>
            </p:grpSpPr>
            <p:sp>
              <p:nvSpPr>
                <p:cNvPr id="12" name="Freeform 19">
                  <a:extLst>
                    <a:ext uri="{FF2B5EF4-FFF2-40B4-BE49-F238E27FC236}">
                      <a16:creationId xmlns:a16="http://schemas.microsoft.com/office/drawing/2014/main" id="{3F832D0E-3963-9625-76F5-A7657F50280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32346" cy="456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346" h="456573">
                      <a:moveTo>
                        <a:pt x="26775" y="0"/>
                      </a:moveTo>
                      <a:lnTo>
                        <a:pt x="2105571" y="0"/>
                      </a:lnTo>
                      <a:cubicBezTo>
                        <a:pt x="2112672" y="0"/>
                        <a:pt x="2119482" y="2821"/>
                        <a:pt x="2124503" y="7842"/>
                      </a:cubicBezTo>
                      <a:cubicBezTo>
                        <a:pt x="2129525" y="12863"/>
                        <a:pt x="2132346" y="19674"/>
                        <a:pt x="2132346" y="26775"/>
                      </a:cubicBezTo>
                      <a:lnTo>
                        <a:pt x="2132346" y="429798"/>
                      </a:lnTo>
                      <a:cubicBezTo>
                        <a:pt x="2132346" y="436899"/>
                        <a:pt x="2129525" y="443710"/>
                        <a:pt x="2124503" y="448731"/>
                      </a:cubicBezTo>
                      <a:cubicBezTo>
                        <a:pt x="2119482" y="453752"/>
                        <a:pt x="2112672" y="456573"/>
                        <a:pt x="2105571" y="456573"/>
                      </a:cubicBezTo>
                      <a:lnTo>
                        <a:pt x="26775" y="456573"/>
                      </a:lnTo>
                      <a:cubicBezTo>
                        <a:pt x="19674" y="456573"/>
                        <a:pt x="12863" y="453752"/>
                        <a:pt x="7842" y="448731"/>
                      </a:cubicBezTo>
                      <a:cubicBezTo>
                        <a:pt x="2821" y="443710"/>
                        <a:pt x="0" y="436899"/>
                        <a:pt x="0" y="429798"/>
                      </a:cubicBezTo>
                      <a:lnTo>
                        <a:pt x="0" y="26775"/>
                      </a:lnTo>
                      <a:cubicBezTo>
                        <a:pt x="0" y="19674"/>
                        <a:pt x="2821" y="12863"/>
                        <a:pt x="7842" y="7842"/>
                      </a:cubicBezTo>
                      <a:cubicBezTo>
                        <a:pt x="12863" y="2821"/>
                        <a:pt x="19674" y="0"/>
                        <a:pt x="26775" y="0"/>
                      </a:cubicBezTo>
                      <a:close/>
                    </a:path>
                  </a:pathLst>
                </a:custGeom>
                <a:ln w="38100" cap="rnd">
                  <a:gradFill>
                    <a:gsLst>
                      <a:gs pos="0">
                        <a:srgbClr val="15C0E9">
                          <a:alpha val="100000"/>
                        </a:srgbClr>
                      </a:gs>
                      <a:gs pos="100000">
                        <a:srgbClr val="00579A">
                          <a:alpha val="5000"/>
                        </a:srgbClr>
                      </a:gs>
                    </a:gsLst>
                    <a:lin ang="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he-IL"/>
                </a:p>
              </p:txBody>
            </p:sp>
            <p:sp>
              <p:nvSpPr>
                <p:cNvPr id="13" name="TextBox 20">
                  <a:extLst>
                    <a:ext uri="{FF2B5EF4-FFF2-40B4-BE49-F238E27FC236}">
                      <a16:creationId xmlns:a16="http://schemas.microsoft.com/office/drawing/2014/main" id="{17FA1007-D40F-58B7-BDB4-E1F36A8CDFCA}"/>
                    </a:ext>
                  </a:extLst>
                </p:cNvPr>
                <p:cNvSpPr txBox="1"/>
                <p:nvPr/>
              </p:nvSpPr>
              <p:spPr>
                <a:xfrm>
                  <a:off x="0" y="19050"/>
                  <a:ext cx="2132346" cy="43752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971"/>
                    </a:lnSpc>
                  </a:pPr>
                  <a:endParaRPr/>
                </a:p>
              </p:txBody>
            </p:sp>
            <p:sp>
              <p:nvSpPr>
                <p:cNvPr id="37" name="Freeform 19">
                  <a:extLst>
                    <a:ext uri="{FF2B5EF4-FFF2-40B4-BE49-F238E27FC236}">
                      <a16:creationId xmlns:a16="http://schemas.microsoft.com/office/drawing/2014/main" id="{4F15299B-2092-170E-DA57-AAF619CDB157}"/>
                    </a:ext>
                  </a:extLst>
                </p:cNvPr>
                <p:cNvSpPr/>
                <p:nvPr/>
              </p:nvSpPr>
              <p:spPr>
                <a:xfrm>
                  <a:off x="2640" y="-514151"/>
                  <a:ext cx="2132346" cy="456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346" h="456573">
                      <a:moveTo>
                        <a:pt x="26775" y="0"/>
                      </a:moveTo>
                      <a:lnTo>
                        <a:pt x="2105571" y="0"/>
                      </a:lnTo>
                      <a:cubicBezTo>
                        <a:pt x="2112672" y="0"/>
                        <a:pt x="2119482" y="2821"/>
                        <a:pt x="2124503" y="7842"/>
                      </a:cubicBezTo>
                      <a:cubicBezTo>
                        <a:pt x="2129525" y="12863"/>
                        <a:pt x="2132346" y="19674"/>
                        <a:pt x="2132346" y="26775"/>
                      </a:cubicBezTo>
                      <a:lnTo>
                        <a:pt x="2132346" y="429798"/>
                      </a:lnTo>
                      <a:cubicBezTo>
                        <a:pt x="2132346" y="436899"/>
                        <a:pt x="2129525" y="443710"/>
                        <a:pt x="2124503" y="448731"/>
                      </a:cubicBezTo>
                      <a:cubicBezTo>
                        <a:pt x="2119482" y="453752"/>
                        <a:pt x="2112672" y="456573"/>
                        <a:pt x="2105571" y="456573"/>
                      </a:cubicBezTo>
                      <a:lnTo>
                        <a:pt x="26775" y="456573"/>
                      </a:lnTo>
                      <a:cubicBezTo>
                        <a:pt x="19674" y="456573"/>
                        <a:pt x="12863" y="453752"/>
                        <a:pt x="7842" y="448731"/>
                      </a:cubicBezTo>
                      <a:cubicBezTo>
                        <a:pt x="2821" y="443710"/>
                        <a:pt x="0" y="436899"/>
                        <a:pt x="0" y="429798"/>
                      </a:cubicBezTo>
                      <a:lnTo>
                        <a:pt x="0" y="26775"/>
                      </a:lnTo>
                      <a:cubicBezTo>
                        <a:pt x="0" y="19674"/>
                        <a:pt x="2821" y="12863"/>
                        <a:pt x="7842" y="7842"/>
                      </a:cubicBezTo>
                      <a:cubicBezTo>
                        <a:pt x="12863" y="2821"/>
                        <a:pt x="19674" y="0"/>
                        <a:pt x="26775" y="0"/>
                      </a:cubicBezTo>
                      <a:close/>
                    </a:path>
                  </a:pathLst>
                </a:custGeom>
                <a:ln w="38100" cap="rnd">
                  <a:gradFill>
                    <a:gsLst>
                      <a:gs pos="0">
                        <a:srgbClr val="15C0E9">
                          <a:alpha val="100000"/>
                        </a:srgbClr>
                      </a:gs>
                      <a:gs pos="100000">
                        <a:srgbClr val="00579A">
                          <a:alpha val="5000"/>
                        </a:srgbClr>
                      </a:gs>
                    </a:gsLst>
                    <a:lin ang="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he-IL"/>
                </a:p>
              </p:txBody>
            </p:sp>
            <p:sp>
              <p:nvSpPr>
                <p:cNvPr id="46" name="Freeform 19">
                  <a:extLst>
                    <a:ext uri="{FF2B5EF4-FFF2-40B4-BE49-F238E27FC236}">
                      <a16:creationId xmlns:a16="http://schemas.microsoft.com/office/drawing/2014/main" id="{F56A8143-B15B-96CD-1A77-7FD77B5F9A78}"/>
                    </a:ext>
                  </a:extLst>
                </p:cNvPr>
                <p:cNvSpPr/>
                <p:nvPr/>
              </p:nvSpPr>
              <p:spPr>
                <a:xfrm>
                  <a:off x="0" y="-1049515"/>
                  <a:ext cx="2132346" cy="456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346" h="456573">
                      <a:moveTo>
                        <a:pt x="26775" y="0"/>
                      </a:moveTo>
                      <a:lnTo>
                        <a:pt x="2105571" y="0"/>
                      </a:lnTo>
                      <a:cubicBezTo>
                        <a:pt x="2112672" y="0"/>
                        <a:pt x="2119482" y="2821"/>
                        <a:pt x="2124503" y="7842"/>
                      </a:cubicBezTo>
                      <a:cubicBezTo>
                        <a:pt x="2129525" y="12863"/>
                        <a:pt x="2132346" y="19674"/>
                        <a:pt x="2132346" y="26775"/>
                      </a:cubicBezTo>
                      <a:lnTo>
                        <a:pt x="2132346" y="429798"/>
                      </a:lnTo>
                      <a:cubicBezTo>
                        <a:pt x="2132346" y="436899"/>
                        <a:pt x="2129525" y="443710"/>
                        <a:pt x="2124503" y="448731"/>
                      </a:cubicBezTo>
                      <a:cubicBezTo>
                        <a:pt x="2119482" y="453752"/>
                        <a:pt x="2112672" y="456573"/>
                        <a:pt x="2105571" y="456573"/>
                      </a:cubicBezTo>
                      <a:lnTo>
                        <a:pt x="26775" y="456573"/>
                      </a:lnTo>
                      <a:cubicBezTo>
                        <a:pt x="19674" y="456573"/>
                        <a:pt x="12863" y="453752"/>
                        <a:pt x="7842" y="448731"/>
                      </a:cubicBezTo>
                      <a:cubicBezTo>
                        <a:pt x="2821" y="443710"/>
                        <a:pt x="0" y="436899"/>
                        <a:pt x="0" y="429798"/>
                      </a:cubicBezTo>
                      <a:lnTo>
                        <a:pt x="0" y="26775"/>
                      </a:lnTo>
                      <a:cubicBezTo>
                        <a:pt x="0" y="19674"/>
                        <a:pt x="2821" y="12863"/>
                        <a:pt x="7842" y="7842"/>
                      </a:cubicBezTo>
                      <a:cubicBezTo>
                        <a:pt x="12863" y="2821"/>
                        <a:pt x="19674" y="0"/>
                        <a:pt x="26775" y="0"/>
                      </a:cubicBezTo>
                      <a:close/>
                    </a:path>
                  </a:pathLst>
                </a:custGeom>
                <a:ln w="38100" cap="rnd">
                  <a:gradFill>
                    <a:gsLst>
                      <a:gs pos="0">
                        <a:srgbClr val="15C0E9">
                          <a:alpha val="100000"/>
                        </a:srgbClr>
                      </a:gs>
                      <a:gs pos="100000">
                        <a:srgbClr val="00579A">
                          <a:alpha val="5000"/>
                        </a:srgbClr>
                      </a:gs>
                    </a:gsLst>
                    <a:lin ang="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he-IL"/>
                </a:p>
              </p:txBody>
            </p:sp>
          </p:grpSp>
        </p:grpSp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137A1B75-7E77-4397-DC78-28B18D5B1DF1}"/>
                </a:ext>
              </a:extLst>
            </p:cNvPr>
            <p:cNvSpPr txBox="1"/>
            <p:nvPr/>
          </p:nvSpPr>
          <p:spPr>
            <a:xfrm>
              <a:off x="13346924" y="4282318"/>
              <a:ext cx="3245066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r" rtl="1"/>
              <a:r>
                <a:rPr lang="he-IL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ניקוי נתונים</a:t>
              </a:r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CCC0875F-20AC-3D08-F3E6-19B65CA42880}"/>
                </a:ext>
              </a:extLst>
            </p:cNvPr>
            <p:cNvSpPr txBox="1"/>
            <p:nvPr/>
          </p:nvSpPr>
          <p:spPr>
            <a:xfrm>
              <a:off x="13346924" y="5822056"/>
              <a:ext cx="3245066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r" rtl="1"/>
              <a:r>
                <a:rPr lang="en-US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Label r30</a:t>
              </a:r>
              <a:endPara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5" name="תיבת טקסט 34">
              <a:extLst>
                <a:ext uri="{FF2B5EF4-FFF2-40B4-BE49-F238E27FC236}">
                  <a16:creationId xmlns:a16="http://schemas.microsoft.com/office/drawing/2014/main" id="{AC1F1513-1E82-F8AA-FB68-C4EF9B5F39AD}"/>
                </a:ext>
              </a:extLst>
            </p:cNvPr>
            <p:cNvSpPr txBox="1"/>
            <p:nvPr/>
          </p:nvSpPr>
          <p:spPr>
            <a:xfrm>
              <a:off x="13382637" y="7291411"/>
              <a:ext cx="3245066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r" rtl="1"/>
              <a:r>
                <a:rPr lang="en-US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Temporal Split</a:t>
              </a:r>
              <a:endPara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6" name="תיבת טקסט 35">
              <a:extLst>
                <a:ext uri="{FF2B5EF4-FFF2-40B4-BE49-F238E27FC236}">
                  <a16:creationId xmlns:a16="http://schemas.microsoft.com/office/drawing/2014/main" id="{0558271C-0B9E-96C0-D41D-84B9F25560BC}"/>
                </a:ext>
              </a:extLst>
            </p:cNvPr>
            <p:cNvSpPr txBox="1"/>
            <p:nvPr/>
          </p:nvSpPr>
          <p:spPr>
            <a:xfrm>
              <a:off x="3042743" y="8814641"/>
              <a:ext cx="13645057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r" rtl="1"/>
              <a:r>
                <a:rPr lang="he-IL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מודלים – </a:t>
              </a:r>
              <a:r>
                <a:rPr lang="en-US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Baseline</a:t>
              </a:r>
              <a:r>
                <a:rPr lang="he-IL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, </a:t>
              </a:r>
              <a:r>
                <a:rPr lang="en-US" sz="3600" dirty="0" err="1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BiLSTM</a:t>
              </a:r>
              <a:endPara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9" name="תיבת טקסט 38">
              <a:extLst>
                <a:ext uri="{FF2B5EF4-FFF2-40B4-BE49-F238E27FC236}">
                  <a16:creationId xmlns:a16="http://schemas.microsoft.com/office/drawing/2014/main" id="{ECCD6CDF-EB68-7F54-15E2-C9A194FF33FA}"/>
                </a:ext>
              </a:extLst>
            </p:cNvPr>
            <p:cNvSpPr txBox="1"/>
            <p:nvPr/>
          </p:nvSpPr>
          <p:spPr>
            <a:xfrm>
              <a:off x="16591990" y="2566073"/>
              <a:ext cx="990600" cy="1081980"/>
            </a:xfrm>
            <a:prstGeom prst="ellipse">
              <a:avLst/>
            </a:prstGeom>
            <a:noFill/>
            <a:ln>
              <a:noFill/>
            </a:ln>
          </p:spPr>
          <p:txBody>
            <a:bodyPr wrap="square" rtlCol="1" anchor="ctr">
              <a:spAutoFit/>
            </a:bodyPr>
            <a:lstStyle/>
            <a:p>
              <a:pPr algn="ctr"/>
              <a:r>
                <a:rPr lang="he-IL" sz="44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40" name="תיבת טקסט 39">
              <a:extLst>
                <a:ext uri="{FF2B5EF4-FFF2-40B4-BE49-F238E27FC236}">
                  <a16:creationId xmlns:a16="http://schemas.microsoft.com/office/drawing/2014/main" id="{638A975A-27A9-1F08-B5E0-30A3773773EB}"/>
                </a:ext>
              </a:extLst>
            </p:cNvPr>
            <p:cNvSpPr txBox="1"/>
            <p:nvPr/>
          </p:nvSpPr>
          <p:spPr>
            <a:xfrm>
              <a:off x="16548253" y="4027646"/>
              <a:ext cx="990600" cy="1081980"/>
            </a:xfrm>
            <a:prstGeom prst="ellipse">
              <a:avLst/>
            </a:prstGeom>
            <a:noFill/>
            <a:ln>
              <a:noFill/>
            </a:ln>
          </p:spPr>
          <p:txBody>
            <a:bodyPr wrap="square" rtlCol="1" anchor="ctr">
              <a:spAutoFit/>
            </a:bodyPr>
            <a:lstStyle/>
            <a:p>
              <a:pPr algn="ctr"/>
              <a:r>
                <a:rPr lang="he-IL" sz="44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41" name="תיבת טקסט 40">
              <a:extLst>
                <a:ext uri="{FF2B5EF4-FFF2-40B4-BE49-F238E27FC236}">
                  <a16:creationId xmlns:a16="http://schemas.microsoft.com/office/drawing/2014/main" id="{2E6ADE57-661C-ED70-3705-674409DBA201}"/>
                </a:ext>
              </a:extLst>
            </p:cNvPr>
            <p:cNvSpPr txBox="1"/>
            <p:nvPr/>
          </p:nvSpPr>
          <p:spPr>
            <a:xfrm>
              <a:off x="16597223" y="5646020"/>
              <a:ext cx="990600" cy="1081980"/>
            </a:xfrm>
            <a:prstGeom prst="ellipse">
              <a:avLst/>
            </a:prstGeom>
            <a:noFill/>
            <a:ln>
              <a:noFill/>
            </a:ln>
          </p:spPr>
          <p:txBody>
            <a:bodyPr wrap="square" rtlCol="1" anchor="ctr">
              <a:spAutoFit/>
            </a:bodyPr>
            <a:lstStyle/>
            <a:p>
              <a:pPr algn="ctr"/>
              <a:r>
                <a:rPr lang="he-IL" sz="44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42" name="תיבת טקסט 41">
              <a:extLst>
                <a:ext uri="{FF2B5EF4-FFF2-40B4-BE49-F238E27FC236}">
                  <a16:creationId xmlns:a16="http://schemas.microsoft.com/office/drawing/2014/main" id="{8C7C7DC5-5CCC-7098-154F-6FAE0F869CB5}"/>
                </a:ext>
              </a:extLst>
            </p:cNvPr>
            <p:cNvSpPr txBox="1"/>
            <p:nvPr/>
          </p:nvSpPr>
          <p:spPr>
            <a:xfrm>
              <a:off x="16627703" y="7108840"/>
              <a:ext cx="990600" cy="1081980"/>
            </a:xfrm>
            <a:prstGeom prst="ellipse">
              <a:avLst/>
            </a:prstGeom>
            <a:noFill/>
            <a:ln>
              <a:noFill/>
            </a:ln>
          </p:spPr>
          <p:txBody>
            <a:bodyPr wrap="square" rtlCol="1" anchor="ctr">
              <a:spAutoFit/>
            </a:bodyPr>
            <a:lstStyle/>
            <a:p>
              <a:pPr algn="ctr"/>
              <a:r>
                <a:rPr lang="he-IL" sz="44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4</a:t>
              </a:r>
            </a:p>
          </p:txBody>
        </p:sp>
        <p:sp>
          <p:nvSpPr>
            <p:cNvPr id="43" name="תיבת טקסט 42">
              <a:extLst>
                <a:ext uri="{FF2B5EF4-FFF2-40B4-BE49-F238E27FC236}">
                  <a16:creationId xmlns:a16="http://schemas.microsoft.com/office/drawing/2014/main" id="{D0DAAB35-5D12-9D31-09C5-44521C457901}"/>
                </a:ext>
              </a:extLst>
            </p:cNvPr>
            <p:cNvSpPr txBox="1"/>
            <p:nvPr/>
          </p:nvSpPr>
          <p:spPr>
            <a:xfrm>
              <a:off x="16687800" y="8648700"/>
              <a:ext cx="990600" cy="1081980"/>
            </a:xfrm>
            <a:prstGeom prst="ellipse">
              <a:avLst/>
            </a:prstGeom>
            <a:noFill/>
            <a:ln>
              <a:noFill/>
            </a:ln>
          </p:spPr>
          <p:txBody>
            <a:bodyPr wrap="square" rtlCol="1" anchor="ctr">
              <a:spAutoFit/>
            </a:bodyPr>
            <a:lstStyle/>
            <a:p>
              <a:pPr algn="ctr"/>
              <a:r>
                <a:rPr lang="he-IL" sz="44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5</a:t>
              </a:r>
            </a:p>
          </p:txBody>
        </p:sp>
        <p:sp>
          <p:nvSpPr>
            <p:cNvPr id="50" name="תיבת טקסט 49">
              <a:extLst>
                <a:ext uri="{FF2B5EF4-FFF2-40B4-BE49-F238E27FC236}">
                  <a16:creationId xmlns:a16="http://schemas.microsoft.com/office/drawing/2014/main" id="{6ADA8EA2-0ADA-21F1-6B0C-E1C2C4708ECB}"/>
                </a:ext>
              </a:extLst>
            </p:cNvPr>
            <p:cNvSpPr txBox="1"/>
            <p:nvPr/>
          </p:nvSpPr>
          <p:spPr>
            <a:xfrm>
              <a:off x="16687800" y="10241342"/>
              <a:ext cx="990600" cy="1273352"/>
            </a:xfrm>
            <a:prstGeom prst="ellipse">
              <a:avLst/>
            </a:prstGeom>
            <a:noFill/>
            <a:ln>
              <a:noFill/>
            </a:ln>
          </p:spPr>
          <p:txBody>
            <a:bodyPr wrap="square" rtlCol="1" anchor="ctr">
              <a:spAutoFit/>
            </a:bodyPr>
            <a:lstStyle/>
            <a:p>
              <a:pPr algn="ctr"/>
              <a:r>
                <a:rPr lang="he-IL" sz="44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6</a:t>
              </a:r>
            </a:p>
          </p:txBody>
        </p:sp>
      </p:grpSp>
      <p:sp>
        <p:nvSpPr>
          <p:cNvPr id="49" name="תיבת טקסט 48">
            <a:extLst>
              <a:ext uri="{FF2B5EF4-FFF2-40B4-BE49-F238E27FC236}">
                <a16:creationId xmlns:a16="http://schemas.microsoft.com/office/drawing/2014/main" id="{3E9D2F6F-1F91-61AC-42F8-841084B215A7}"/>
              </a:ext>
            </a:extLst>
          </p:cNvPr>
          <p:cNvSpPr txBox="1"/>
          <p:nvPr/>
        </p:nvSpPr>
        <p:spPr>
          <a:xfrm>
            <a:off x="5389622" y="9269454"/>
            <a:ext cx="1155086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Event study</a:t>
            </a:r>
            <a:endParaRPr lang="he-IL" sz="3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10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5084" y="-8962815"/>
            <a:ext cx="18561917" cy="19899065"/>
            <a:chOff x="-39162" y="-38100"/>
            <a:chExt cx="2082885" cy="5240906"/>
          </a:xfrm>
        </p:grpSpPr>
        <p:sp>
          <p:nvSpPr>
            <p:cNvPr id="4" name="Freeform 4"/>
            <p:cNvSpPr/>
            <p:nvPr/>
          </p:nvSpPr>
          <p:spPr>
            <a:xfrm>
              <a:off x="-39162" y="2170771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4858A69D-9423-7E56-5393-C7068B29F43B}"/>
              </a:ext>
            </a:extLst>
          </p:cNvPr>
          <p:cNvSpPr txBox="1"/>
          <p:nvPr/>
        </p:nvSpPr>
        <p:spPr>
          <a:xfrm>
            <a:off x="10742720" y="917613"/>
            <a:ext cx="702059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נתונים:</a:t>
            </a:r>
          </a:p>
        </p:txBody>
      </p:sp>
      <p:grpSp>
        <p:nvGrpSpPr>
          <p:cNvPr id="27" name="קבוצה 26">
            <a:extLst>
              <a:ext uri="{FF2B5EF4-FFF2-40B4-BE49-F238E27FC236}">
                <a16:creationId xmlns:a16="http://schemas.microsoft.com/office/drawing/2014/main" id="{A3F93CB5-6747-9357-CE48-25B985D8AB77}"/>
              </a:ext>
            </a:extLst>
          </p:cNvPr>
          <p:cNvGrpSpPr/>
          <p:nvPr/>
        </p:nvGrpSpPr>
        <p:grpSpPr>
          <a:xfrm>
            <a:off x="708687" y="3230761"/>
            <a:ext cx="16909807" cy="4584799"/>
            <a:chOff x="3279385" y="3393061"/>
            <a:chExt cx="14081066" cy="5291427"/>
          </a:xfrm>
        </p:grpSpPr>
        <p:sp>
          <p:nvSpPr>
            <p:cNvPr id="7" name="Freeform 7"/>
            <p:cNvSpPr/>
            <p:nvPr/>
          </p:nvSpPr>
          <p:spPr>
            <a:xfrm>
              <a:off x="6846588" y="3443495"/>
              <a:ext cx="3258092" cy="5231220"/>
            </a:xfrm>
            <a:custGeom>
              <a:avLst/>
              <a:gdLst/>
              <a:ahLst/>
              <a:cxnLst/>
              <a:rect l="l" t="t" r="r" b="b"/>
              <a:pathLst>
                <a:path w="4245098" h="4523997">
                  <a:moveTo>
                    <a:pt x="0" y="0"/>
                  </a:moveTo>
                  <a:lnTo>
                    <a:pt x="4245098" y="0"/>
                  </a:lnTo>
                  <a:lnTo>
                    <a:pt x="4245098" y="4523997"/>
                  </a:lnTo>
                  <a:lnTo>
                    <a:pt x="0" y="4523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0444258" y="3393061"/>
              <a:ext cx="3258092" cy="5231220"/>
            </a:xfrm>
            <a:custGeom>
              <a:avLst/>
              <a:gdLst/>
              <a:ahLst/>
              <a:cxnLst/>
              <a:rect l="l" t="t" r="r" b="b"/>
              <a:pathLst>
                <a:path w="4245098" h="4523997">
                  <a:moveTo>
                    <a:pt x="0" y="0"/>
                  </a:moveTo>
                  <a:lnTo>
                    <a:pt x="4245098" y="0"/>
                  </a:lnTo>
                  <a:lnTo>
                    <a:pt x="4245098" y="4523997"/>
                  </a:lnTo>
                  <a:lnTo>
                    <a:pt x="0" y="4523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4041929" y="3423949"/>
              <a:ext cx="3258092" cy="5231220"/>
            </a:xfrm>
            <a:custGeom>
              <a:avLst/>
              <a:gdLst/>
              <a:ahLst/>
              <a:cxnLst/>
              <a:rect l="l" t="t" r="r" b="b"/>
              <a:pathLst>
                <a:path w="4245098" h="4523997">
                  <a:moveTo>
                    <a:pt x="0" y="0"/>
                  </a:moveTo>
                  <a:lnTo>
                    <a:pt x="4245099" y="0"/>
                  </a:lnTo>
                  <a:lnTo>
                    <a:pt x="4245099" y="4523997"/>
                  </a:lnTo>
                  <a:lnTo>
                    <a:pt x="0" y="4523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תיבת טקסט 20">
              <a:extLst>
                <a:ext uri="{FF2B5EF4-FFF2-40B4-BE49-F238E27FC236}">
                  <a16:creationId xmlns:a16="http://schemas.microsoft.com/office/drawing/2014/main" id="{49A7DA3A-CFD4-680D-34E5-BBC83074C2E4}"/>
                </a:ext>
              </a:extLst>
            </p:cNvPr>
            <p:cNvSpPr txBox="1"/>
            <p:nvPr/>
          </p:nvSpPr>
          <p:spPr>
            <a:xfrm>
              <a:off x="14270261" y="4119724"/>
              <a:ext cx="3090190" cy="74594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he-IL" sz="3600" dirty="0">
                  <a:solidFill>
                    <a:srgbClr val="A6CBF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הטקסט</a:t>
              </a: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B7E8A92-501D-3696-B08B-EF5527CF47CA}"/>
                </a:ext>
              </a:extLst>
            </p:cNvPr>
            <p:cNvSpPr/>
            <p:nvPr/>
          </p:nvSpPr>
          <p:spPr>
            <a:xfrm>
              <a:off x="3279385" y="3453268"/>
              <a:ext cx="3258092" cy="5231220"/>
            </a:xfrm>
            <a:custGeom>
              <a:avLst/>
              <a:gdLst/>
              <a:ahLst/>
              <a:cxnLst/>
              <a:rect l="l" t="t" r="r" b="b"/>
              <a:pathLst>
                <a:path w="4245098" h="4523997">
                  <a:moveTo>
                    <a:pt x="0" y="0"/>
                  </a:moveTo>
                  <a:lnTo>
                    <a:pt x="4245098" y="0"/>
                  </a:lnTo>
                  <a:lnTo>
                    <a:pt x="4245098" y="4523997"/>
                  </a:lnTo>
                  <a:lnTo>
                    <a:pt x="0" y="4523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28" name="תיבת טקסט 27">
              <a:extLst>
                <a:ext uri="{FF2B5EF4-FFF2-40B4-BE49-F238E27FC236}">
                  <a16:creationId xmlns:a16="http://schemas.microsoft.com/office/drawing/2014/main" id="{CD289A9F-8063-31E8-C2C2-E99512715FD3}"/>
                </a:ext>
              </a:extLst>
            </p:cNvPr>
            <p:cNvSpPr txBox="1"/>
            <p:nvPr/>
          </p:nvSpPr>
          <p:spPr>
            <a:xfrm>
              <a:off x="14414923" y="4864978"/>
              <a:ext cx="2702218" cy="266409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he-IL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כ – 66,000 ציוצים מסוננים הקשורים </a:t>
              </a:r>
              <a:r>
                <a:rPr lang="he-IL" sz="3600" dirty="0" err="1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לביטקוין</a:t>
              </a:r>
              <a:endPara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9" name="תיבת טקסט 28">
              <a:extLst>
                <a:ext uri="{FF2B5EF4-FFF2-40B4-BE49-F238E27FC236}">
                  <a16:creationId xmlns:a16="http://schemas.microsoft.com/office/drawing/2014/main" id="{E38A4D63-B55E-6A72-43A8-8BE7C161E7C9}"/>
                </a:ext>
              </a:extLst>
            </p:cNvPr>
            <p:cNvSpPr txBox="1"/>
            <p:nvPr/>
          </p:nvSpPr>
          <p:spPr>
            <a:xfrm>
              <a:off x="10625484" y="4119724"/>
              <a:ext cx="3090190" cy="74594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he-IL" sz="3600" dirty="0">
                  <a:solidFill>
                    <a:srgbClr val="A6CBF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הזמן</a:t>
              </a:r>
            </a:p>
          </p:txBody>
        </p:sp>
        <p:sp>
          <p:nvSpPr>
            <p:cNvPr id="30" name="תיבת טקסט 29">
              <a:extLst>
                <a:ext uri="{FF2B5EF4-FFF2-40B4-BE49-F238E27FC236}">
                  <a16:creationId xmlns:a16="http://schemas.microsoft.com/office/drawing/2014/main" id="{B32208DD-B96C-557C-4920-1893002AD431}"/>
                </a:ext>
              </a:extLst>
            </p:cNvPr>
            <p:cNvSpPr txBox="1"/>
            <p:nvPr/>
          </p:nvSpPr>
          <p:spPr>
            <a:xfrm>
              <a:off x="10751931" y="4950201"/>
              <a:ext cx="2702218" cy="138532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he-IL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טווח נתונים של כ- 7 חודשים</a:t>
              </a:r>
            </a:p>
          </p:txBody>
        </p:sp>
        <p:sp>
          <p:nvSpPr>
            <p:cNvPr id="31" name="תיבת טקסט 30">
              <a:extLst>
                <a:ext uri="{FF2B5EF4-FFF2-40B4-BE49-F238E27FC236}">
                  <a16:creationId xmlns:a16="http://schemas.microsoft.com/office/drawing/2014/main" id="{0831D56C-73D8-F19E-AC6B-8C232ABE15F5}"/>
                </a:ext>
              </a:extLst>
            </p:cNvPr>
            <p:cNvSpPr txBox="1"/>
            <p:nvPr/>
          </p:nvSpPr>
          <p:spPr>
            <a:xfrm>
              <a:off x="7012245" y="4034501"/>
              <a:ext cx="3090190" cy="74594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he-IL" sz="3600" dirty="0">
                  <a:solidFill>
                    <a:srgbClr val="A6CBF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השוק</a:t>
              </a:r>
            </a:p>
          </p:txBody>
        </p:sp>
        <p:sp>
          <p:nvSpPr>
            <p:cNvPr id="32" name="תיבת טקסט 31">
              <a:extLst>
                <a:ext uri="{FF2B5EF4-FFF2-40B4-BE49-F238E27FC236}">
                  <a16:creationId xmlns:a16="http://schemas.microsoft.com/office/drawing/2014/main" id="{95F1668B-E26A-EF6F-7984-6E0579F6AA03}"/>
                </a:ext>
              </a:extLst>
            </p:cNvPr>
            <p:cNvSpPr txBox="1"/>
            <p:nvPr/>
          </p:nvSpPr>
          <p:spPr>
            <a:xfrm>
              <a:off x="7138692" y="4864978"/>
              <a:ext cx="2702218" cy="266409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he-IL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מחירי סגירה יומיים שנמשכו מ- </a:t>
              </a:r>
              <a:r>
                <a:rPr lang="en-US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Yahoo Finance</a:t>
              </a:r>
              <a:r>
                <a:rPr lang="he-IL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. </a:t>
              </a:r>
            </a:p>
          </p:txBody>
        </p:sp>
        <p:sp>
          <p:nvSpPr>
            <p:cNvPr id="33" name="תיבת טקסט 32">
              <a:extLst>
                <a:ext uri="{FF2B5EF4-FFF2-40B4-BE49-F238E27FC236}">
                  <a16:creationId xmlns:a16="http://schemas.microsoft.com/office/drawing/2014/main" id="{C6ED6A8D-F094-583B-0922-263EE939555C}"/>
                </a:ext>
              </a:extLst>
            </p:cNvPr>
            <p:cNvSpPr txBox="1"/>
            <p:nvPr/>
          </p:nvSpPr>
          <p:spPr>
            <a:xfrm>
              <a:off x="3399005" y="4013906"/>
              <a:ext cx="3090190" cy="74594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he-IL" sz="3600" dirty="0">
                  <a:solidFill>
                    <a:srgbClr val="A6CBF5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ניקוי </a:t>
              </a:r>
            </a:p>
          </p:txBody>
        </p:sp>
        <p:sp>
          <p:nvSpPr>
            <p:cNvPr id="34" name="תיבת טקסט 33">
              <a:extLst>
                <a:ext uri="{FF2B5EF4-FFF2-40B4-BE49-F238E27FC236}">
                  <a16:creationId xmlns:a16="http://schemas.microsoft.com/office/drawing/2014/main" id="{16C9F21A-87ED-068D-75DA-BB9BA37342BE}"/>
                </a:ext>
              </a:extLst>
            </p:cNvPr>
            <p:cNvSpPr txBox="1"/>
            <p:nvPr/>
          </p:nvSpPr>
          <p:spPr>
            <a:xfrm>
              <a:off x="3525453" y="4844382"/>
              <a:ext cx="2702218" cy="33034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he-IL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הסרת </a:t>
              </a:r>
              <a:r>
                <a:rPr lang="en-US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URL</a:t>
              </a:r>
              <a:r>
                <a:rPr lang="he-IL" sz="36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, תיוגים וסימנים מיותרים להשארת תוכן סמנטי.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10FD6-5DEA-B031-1B68-FA80F806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A440545-3D36-D53B-5749-219D101AA985}"/>
              </a:ext>
            </a:extLst>
          </p:cNvPr>
          <p:cNvGrpSpPr/>
          <p:nvPr/>
        </p:nvGrpSpPr>
        <p:grpSpPr>
          <a:xfrm>
            <a:off x="424082" y="-8962815"/>
            <a:ext cx="18212919" cy="19760855"/>
            <a:chOff x="0" y="-38100"/>
            <a:chExt cx="2043723" cy="520450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2963B7E-36A8-EB1E-CEB1-F733A7999A86}"/>
                </a:ext>
              </a:extLst>
            </p:cNvPr>
            <p:cNvSpPr/>
            <p:nvPr/>
          </p:nvSpPr>
          <p:spPr>
            <a:xfrm>
              <a:off x="0" y="2134370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B5F6489-F2AA-6F2B-0346-3D3F9DA35EB1}"/>
                </a:ext>
              </a:extLst>
            </p:cNvPr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575D399F-911B-9DCF-417A-BB44AE9F1A58}"/>
              </a:ext>
            </a:extLst>
          </p:cNvPr>
          <p:cNvSpPr txBox="1"/>
          <p:nvPr/>
        </p:nvSpPr>
        <p:spPr>
          <a:xfrm>
            <a:off x="10742720" y="917613"/>
            <a:ext cx="702059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en-US" sz="8800" b="1" dirty="0" err="1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clean_text</a:t>
            </a: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:</a:t>
            </a:r>
          </a:p>
        </p:txBody>
      </p:sp>
      <p:pic>
        <p:nvPicPr>
          <p:cNvPr id="2" name="תמונה 1" descr="תמונה שמכילה טקסט, צילום מסך, תוכנה, מערכת הפעלה">
            <a:extLst>
              <a:ext uri="{FF2B5EF4-FFF2-40B4-BE49-F238E27FC236}">
                <a16:creationId xmlns:a16="http://schemas.microsoft.com/office/drawing/2014/main" id="{731E767A-63C7-7A59-CBD6-8FD120333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067" y="1333500"/>
            <a:ext cx="8310669" cy="83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06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98DAA-4CBA-C136-0DFE-AF88859F9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F5EC5F1-682C-0E92-2C8D-DAFF88548B40}"/>
              </a:ext>
            </a:extLst>
          </p:cNvPr>
          <p:cNvGrpSpPr/>
          <p:nvPr/>
        </p:nvGrpSpPr>
        <p:grpSpPr>
          <a:xfrm>
            <a:off x="424082" y="-8962815"/>
            <a:ext cx="18212919" cy="19760855"/>
            <a:chOff x="0" y="-38100"/>
            <a:chExt cx="2043723" cy="520450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C2F55F4-EAEE-6B77-C166-7107A7C62C8A}"/>
                </a:ext>
              </a:extLst>
            </p:cNvPr>
            <p:cNvSpPr/>
            <p:nvPr/>
          </p:nvSpPr>
          <p:spPr>
            <a:xfrm>
              <a:off x="0" y="2134370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928055D-E277-57B5-FC06-94382C043174}"/>
                </a:ext>
              </a:extLst>
            </p:cNvPr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A388A5FC-D248-921C-EA94-EABCBC2BB35A}"/>
              </a:ext>
            </a:extLst>
          </p:cNvPr>
          <p:cNvSpPr txBox="1"/>
          <p:nvPr/>
        </p:nvSpPr>
        <p:spPr>
          <a:xfrm>
            <a:off x="10742720" y="917613"/>
            <a:ext cx="702059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הגדרת המטרה: </a:t>
            </a:r>
          </a:p>
        </p:txBody>
      </p:sp>
      <p:pic>
        <p:nvPicPr>
          <p:cNvPr id="6" name="תמונה 5" descr="תמונה שמכילה טקסט, צילום מסך, גופן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AAAF65C-8FE7-CBC2-D6CC-367A8F0B6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5975688"/>
            <a:ext cx="9716970" cy="4117093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224D04C4-5882-AE06-7A19-5FBCCE33EF1E}"/>
              </a:ext>
            </a:extLst>
          </p:cNvPr>
          <p:cNvSpPr txBox="1"/>
          <p:nvPr/>
        </p:nvSpPr>
        <p:spPr>
          <a:xfrm>
            <a:off x="2286000" y="4076116"/>
            <a:ext cx="15477311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חיזוי תשואה עתידית (</a:t>
            </a:r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r3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) -</a:t>
            </a:r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מייצג את התשואה העתידית המצטברת של </a:t>
            </a:r>
            <a:r>
              <a:rPr lang="he-IL" sz="36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הביטקוין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בחלון זמן של 30 יום מרגע פרסום הציוץ.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126E77D7-3BD9-4E54-0B4C-C745DDA31A07}"/>
              </a:ext>
            </a:extLst>
          </p:cNvPr>
          <p:cNvSpPr txBox="1"/>
          <p:nvPr/>
        </p:nvSpPr>
        <p:spPr>
          <a:xfrm>
            <a:off x="2310063" y="3035876"/>
            <a:ext cx="1547731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המטרה אינה חיזוי מחיר, אלא לחזות מגמה לטווח בינוני.</a:t>
            </a:r>
          </a:p>
        </p:txBody>
      </p:sp>
    </p:spTree>
    <p:extLst>
      <p:ext uri="{BB962C8B-B14F-4D97-AF65-F5344CB8AC3E}">
        <p14:creationId xmlns:p14="http://schemas.microsoft.com/office/powerpoint/2010/main" val="2084231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E4C2A-3AA5-46A3-4CF4-FB8FFD266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462422D8-61D8-5A11-840B-4982CF4B0A69}"/>
              </a:ext>
            </a:extLst>
          </p:cNvPr>
          <p:cNvGrpSpPr/>
          <p:nvPr/>
        </p:nvGrpSpPr>
        <p:grpSpPr>
          <a:xfrm>
            <a:off x="424082" y="-8962815"/>
            <a:ext cx="18212919" cy="19760855"/>
            <a:chOff x="0" y="-38100"/>
            <a:chExt cx="2043723" cy="520450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F5B28CF-F13B-2A19-288A-047CFA6F5D8F}"/>
                </a:ext>
              </a:extLst>
            </p:cNvPr>
            <p:cNvSpPr/>
            <p:nvPr/>
          </p:nvSpPr>
          <p:spPr>
            <a:xfrm>
              <a:off x="0" y="2134370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05F8C3B-72F8-B80E-078B-072FB6044E0A}"/>
                </a:ext>
              </a:extLst>
            </p:cNvPr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507FB652-D0EE-48E9-3C40-59248BA27A71}"/>
              </a:ext>
            </a:extLst>
          </p:cNvPr>
          <p:cNvSpPr txBox="1"/>
          <p:nvPr/>
        </p:nvSpPr>
        <p:spPr>
          <a:xfrm>
            <a:off x="-1042393" y="805788"/>
            <a:ext cx="1890631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מניעת דליפת מידע (</a:t>
            </a:r>
            <a:r>
              <a:rPr lang="en-US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Data Leakage</a:t>
            </a: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) 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24CBDD5-5785-A4E6-DF28-B601E7E59788}"/>
              </a:ext>
            </a:extLst>
          </p:cNvPr>
          <p:cNvSpPr txBox="1"/>
          <p:nvPr/>
        </p:nvSpPr>
        <p:spPr>
          <a:xfrm>
            <a:off x="9448800" y="2766852"/>
            <a:ext cx="8314511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הבעיה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:</a:t>
            </a:r>
            <a:r>
              <a:rPr lang="en-US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חלוקה אקראית יוצרת חיזוי מזויף. </a:t>
            </a:r>
          </a:p>
          <a:p>
            <a:pPr algn="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הפתרון: חלוקה טמפורלית – המודל לומד מהעבר ונבחן על העתיד. </a:t>
            </a:r>
          </a:p>
          <a:p>
            <a:pPr algn="r" rtl="1"/>
            <a:r>
              <a:rPr lang="he-IL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חלוקה: 70%/ 15%/ 15%.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E5C0D640-F92D-DE2D-07A5-F7782D06B95B}"/>
              </a:ext>
            </a:extLst>
          </p:cNvPr>
          <p:cNvSpPr txBox="1"/>
          <p:nvPr/>
        </p:nvSpPr>
        <p:spPr>
          <a:xfrm>
            <a:off x="9448800" y="7592897"/>
            <a:ext cx="8314511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הפרדה מוחלטת – אין חפיפה של ציוצים מאותו יום בין הקבוצות.</a:t>
            </a:r>
            <a:endParaRPr lang="he-IL" sz="3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1" name="תמונה 10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C8CCEC3-E134-96AD-E5CD-3A952466D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60" y="2800941"/>
            <a:ext cx="8550941" cy="7169754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גופן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0F1BB6F-09F2-537E-978B-7230D6E85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369" y="5211825"/>
            <a:ext cx="8550942" cy="20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195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AE5D4-54BE-4689-73E7-AFFBFF70C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6C81E9C-7174-D0BE-0143-41E10548B9E0}"/>
              </a:ext>
            </a:extLst>
          </p:cNvPr>
          <p:cNvGrpSpPr/>
          <p:nvPr/>
        </p:nvGrpSpPr>
        <p:grpSpPr>
          <a:xfrm>
            <a:off x="424082" y="-8962815"/>
            <a:ext cx="18212919" cy="19760855"/>
            <a:chOff x="0" y="-38100"/>
            <a:chExt cx="2043723" cy="520450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A76E333-6512-0E77-87F7-74D4936A180A}"/>
                </a:ext>
              </a:extLst>
            </p:cNvPr>
            <p:cNvSpPr/>
            <p:nvPr/>
          </p:nvSpPr>
          <p:spPr>
            <a:xfrm>
              <a:off x="0" y="2134370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2697ABB-AE91-D565-EFA7-8E8C151AB64C}"/>
                </a:ext>
              </a:extLst>
            </p:cNvPr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5CDF26DD-FCC0-FD31-A23D-F05EC7ED3C17}"/>
              </a:ext>
            </a:extLst>
          </p:cNvPr>
          <p:cNvSpPr txBox="1"/>
          <p:nvPr/>
        </p:nvSpPr>
        <p:spPr>
          <a:xfrm>
            <a:off x="-1042393" y="805788"/>
            <a:ext cx="1890631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המודל העמוק:</a:t>
            </a:r>
            <a:r>
              <a:rPr lang="en-US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 BILSTM </a:t>
            </a:r>
            <a:endParaRPr lang="he-IL" sz="8800" b="1" dirty="0">
              <a:solidFill>
                <a:srgbClr val="A6CBF5"/>
              </a:solidFill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2EC0F546-304A-AC70-7D4A-FF74E7FE0029}"/>
              </a:ext>
            </a:extLst>
          </p:cNvPr>
          <p:cNvSpPr txBox="1"/>
          <p:nvPr/>
        </p:nvSpPr>
        <p:spPr>
          <a:xfrm>
            <a:off x="2057400" y="2766852"/>
            <a:ext cx="15705911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המודל : 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Bi-Directional LSTM</a:t>
            </a:r>
          </a:p>
          <a:p>
            <a:pPr algn="r" rtl="1"/>
            <a:endParaRPr lang="en-US" sz="36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הלוגיקה : הבנת הקשר ורצף</a:t>
            </a:r>
            <a:endParaRPr lang="en-US" sz="36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קריאת הטקסט משני הכיוונים.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Embedding Layer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: ייצוג סמנטי למילים.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Dropout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: מנגנון למניעת 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Overfitting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6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" name="תמונה 9" descr="תמונה שמכילה צילום מסך, טקס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8905ACC-FA77-28FF-4AE8-0CB0FA5A9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952" y="6438900"/>
            <a:ext cx="13398805" cy="364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61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13F11-CB0E-1EA5-B7E9-476E3FC64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D3A7218B-1E06-3687-2ECD-9C277B68D5B3}"/>
              </a:ext>
            </a:extLst>
          </p:cNvPr>
          <p:cNvGrpSpPr/>
          <p:nvPr/>
        </p:nvGrpSpPr>
        <p:grpSpPr>
          <a:xfrm>
            <a:off x="424082" y="-8962815"/>
            <a:ext cx="18212919" cy="19760855"/>
            <a:chOff x="0" y="-38100"/>
            <a:chExt cx="2043723" cy="520450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762075A-2E5F-6438-5435-0C3284B14BD8}"/>
                </a:ext>
              </a:extLst>
            </p:cNvPr>
            <p:cNvSpPr/>
            <p:nvPr/>
          </p:nvSpPr>
          <p:spPr>
            <a:xfrm>
              <a:off x="0" y="2134370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6382DA0-59A0-7A8D-692B-47EDDCE1E8B8}"/>
                </a:ext>
              </a:extLst>
            </p:cNvPr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11C2DE61-DA58-9A04-CD5A-05DAC9738681}"/>
              </a:ext>
            </a:extLst>
          </p:cNvPr>
          <p:cNvSpPr txBox="1"/>
          <p:nvPr/>
        </p:nvSpPr>
        <p:spPr>
          <a:xfrm>
            <a:off x="-1042393" y="805788"/>
            <a:ext cx="1890631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הגדרה של מודל ה־</a:t>
            </a:r>
            <a:r>
              <a:rPr lang="en-US" sz="8800" b="1" dirty="0" err="1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BiLSTM</a:t>
            </a:r>
            <a:endParaRPr lang="he-IL" sz="8800" b="1" dirty="0">
              <a:solidFill>
                <a:srgbClr val="A6CBF5"/>
              </a:solidFill>
              <a:ea typeface="Calibri (MS) Bold"/>
              <a:cs typeface="Calibri (MS) Bold"/>
              <a:sym typeface="Calibri (MS) Bold"/>
              <a:rtl/>
            </a:endParaRPr>
          </a:p>
        </p:txBody>
      </p:sp>
      <p:pic>
        <p:nvPicPr>
          <p:cNvPr id="6" name="תמונה 5" descr="תמונה שמכילה טקסט, תוכנה, תכונות מולטימדיה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B193B24-5283-2E64-9773-6CF718E9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91" y="2716964"/>
            <a:ext cx="17027018" cy="517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28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C5672-FDD1-D254-765E-9B8DD5043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A78536CE-6C7F-044E-76BD-E9B7342187C4}"/>
              </a:ext>
            </a:extLst>
          </p:cNvPr>
          <p:cNvGrpSpPr/>
          <p:nvPr/>
        </p:nvGrpSpPr>
        <p:grpSpPr>
          <a:xfrm>
            <a:off x="424082" y="-8962815"/>
            <a:ext cx="18212919" cy="19760855"/>
            <a:chOff x="0" y="-38100"/>
            <a:chExt cx="2043723" cy="520450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44A630-CC27-4104-CA79-031B590C9754}"/>
                </a:ext>
              </a:extLst>
            </p:cNvPr>
            <p:cNvSpPr/>
            <p:nvPr/>
          </p:nvSpPr>
          <p:spPr>
            <a:xfrm>
              <a:off x="0" y="2134370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323247C-E1D7-1D7E-481D-B64825428848}"/>
                </a:ext>
              </a:extLst>
            </p:cNvPr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81675A7E-EC33-78BC-D818-BC5F882DE23C}"/>
              </a:ext>
            </a:extLst>
          </p:cNvPr>
          <p:cNvSpPr txBox="1"/>
          <p:nvPr/>
        </p:nvSpPr>
        <p:spPr>
          <a:xfrm>
            <a:off x="-1042393" y="805788"/>
            <a:ext cx="1890631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המודל הבסיסי:</a:t>
            </a:r>
            <a:r>
              <a:rPr lang="en-US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 The Baseline </a:t>
            </a:r>
            <a:endParaRPr lang="he-IL" sz="8800" b="1" dirty="0">
              <a:solidFill>
                <a:srgbClr val="A6CBF5"/>
              </a:solidFill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1990F9E-45CE-DDC8-E147-07FEF768DE4D}"/>
              </a:ext>
            </a:extLst>
          </p:cNvPr>
          <p:cNvSpPr txBox="1"/>
          <p:nvPr/>
        </p:nvSpPr>
        <p:spPr>
          <a:xfrm>
            <a:off x="9448800" y="2766852"/>
            <a:ext cx="8314511" cy="50783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המודל : 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TF-IDF + Logistic Regression</a:t>
            </a:r>
          </a:p>
          <a:p>
            <a:pPr algn="r" rtl="1"/>
            <a:endParaRPr lang="en-US" sz="36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הלוגיקה : גישת 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Bag of Words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המודל מחפש מילות מפתח ספציפיות (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'Moon', 'Crash', 'Bull'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).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אינו מבין הקשר (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Context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)  או סדר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מילים.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מילים בודדות מכילות את </a:t>
            </a:r>
            <a:r>
              <a:rPr lang="he-IL" sz="3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רוה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הסיגנל. </a:t>
            </a:r>
            <a:endParaRPr lang="en-US" sz="36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r" rtl="1"/>
            <a:endParaRPr lang="he-IL" sz="3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תמונה 5" descr="תמונה שמכילה טקסט, צילום מסך, גופן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32B2D3F-054C-5C02-E381-AB69FD95E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68857"/>
            <a:ext cx="7059189" cy="606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7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D4747-1BA5-438E-0B69-429576559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FFFF236-168F-294A-12D2-B056AE56A67B}"/>
              </a:ext>
            </a:extLst>
          </p:cNvPr>
          <p:cNvGrpSpPr/>
          <p:nvPr/>
        </p:nvGrpSpPr>
        <p:grpSpPr>
          <a:xfrm>
            <a:off x="424082" y="-8962815"/>
            <a:ext cx="18212919" cy="19760855"/>
            <a:chOff x="0" y="-38100"/>
            <a:chExt cx="2043723" cy="520450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69AF22A-D1F4-975C-70B6-3CF8CFAB6D9E}"/>
                </a:ext>
              </a:extLst>
            </p:cNvPr>
            <p:cNvSpPr/>
            <p:nvPr/>
          </p:nvSpPr>
          <p:spPr>
            <a:xfrm>
              <a:off x="0" y="2134370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CBFA133-649E-1EDE-9B51-18465E248480}"/>
                </a:ext>
              </a:extLst>
            </p:cNvPr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01AE21FC-23A5-8EC3-F61A-2986D1B20FEA}"/>
              </a:ext>
            </a:extLst>
          </p:cNvPr>
          <p:cNvSpPr txBox="1"/>
          <p:nvPr/>
        </p:nvSpPr>
        <p:spPr>
          <a:xfrm>
            <a:off x="-1042393" y="805788"/>
            <a:ext cx="1890631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המודל הבסיסי:</a:t>
            </a:r>
            <a:r>
              <a:rPr lang="en-US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 The Baseline </a:t>
            </a:r>
            <a:endParaRPr lang="he-IL" sz="8800" b="1" dirty="0">
              <a:solidFill>
                <a:srgbClr val="A6CBF5"/>
              </a:solidFill>
              <a:ea typeface="Calibri (MS) Bold"/>
              <a:cs typeface="Calibri (MS) Bold"/>
              <a:sym typeface="Calibri (MS) Bold"/>
              <a:rtl/>
            </a:endParaRPr>
          </a:p>
        </p:txBody>
      </p:sp>
      <p:pic>
        <p:nvPicPr>
          <p:cNvPr id="2" name="תמונה 1" descr="תמונה שמכילה טקסט, צילום מסך, גופן">
            <a:extLst>
              <a:ext uri="{FF2B5EF4-FFF2-40B4-BE49-F238E27FC236}">
                <a16:creationId xmlns:a16="http://schemas.microsoft.com/office/drawing/2014/main" id="{DF93CC97-7A98-C401-EB31-1F96CACD7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141" y="3045565"/>
            <a:ext cx="14333717" cy="419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39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498AA-1AA5-4187-716F-35C3C515D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EC0896E-3E13-D894-D907-BE69DC13442D}"/>
              </a:ext>
            </a:extLst>
          </p:cNvPr>
          <p:cNvGrpSpPr/>
          <p:nvPr/>
        </p:nvGrpSpPr>
        <p:grpSpPr>
          <a:xfrm>
            <a:off x="424082" y="-8962815"/>
            <a:ext cx="18212919" cy="19760855"/>
            <a:chOff x="0" y="-38100"/>
            <a:chExt cx="2043723" cy="520450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5A36080-D7D5-DF42-A8A2-AC5ECB0413C2}"/>
                </a:ext>
              </a:extLst>
            </p:cNvPr>
            <p:cNvSpPr/>
            <p:nvPr/>
          </p:nvSpPr>
          <p:spPr>
            <a:xfrm>
              <a:off x="0" y="2134370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B27F117-4E0F-F88B-7618-EE4D81E0A48E}"/>
                </a:ext>
              </a:extLst>
            </p:cNvPr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57F8E7AD-A022-A755-BE10-9C0D3129CE2D}"/>
              </a:ext>
            </a:extLst>
          </p:cNvPr>
          <p:cNvSpPr txBox="1"/>
          <p:nvPr/>
        </p:nvSpPr>
        <p:spPr>
          <a:xfrm>
            <a:off x="-1042393" y="805788"/>
            <a:ext cx="1890631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תוצאות ראשוניות: </a:t>
            </a:r>
          </a:p>
        </p:txBody>
      </p:sp>
      <p:pic>
        <p:nvPicPr>
          <p:cNvPr id="6" name="תמונה 5" descr="תמונה שמכילה צילום מסך, טקסט, עלילה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7F6295D-F4D8-4AB9-7CFF-991C035BA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30" y="2306007"/>
            <a:ext cx="8615559" cy="6336443"/>
          </a:xfrm>
          <a:prstGeom prst="rect">
            <a:avLst/>
          </a:prstGeom>
        </p:spPr>
      </p:pic>
      <p:pic>
        <p:nvPicPr>
          <p:cNvPr id="11" name="תמונה 10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63F0D15-826B-4638-6218-05F6B7DA1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7612" y="2566489"/>
            <a:ext cx="6826166" cy="2475422"/>
          </a:xfrm>
          <a:prstGeom prst="rect">
            <a:avLst/>
          </a:prstGeom>
        </p:spPr>
      </p:pic>
      <p:pic>
        <p:nvPicPr>
          <p:cNvPr id="13" name="תמונה 12" descr="תמונה שמכילה טקסט, גופן, צילום מסך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CEDD702-BB4D-1692-6AAF-5C9FA3C55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4991" y="5485214"/>
            <a:ext cx="5691408" cy="2235297"/>
          </a:xfrm>
          <a:prstGeom prst="rect">
            <a:avLst/>
          </a:prstGeom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01B6D692-D01F-F1BB-874C-EC243ED3EADD}"/>
              </a:ext>
            </a:extLst>
          </p:cNvPr>
          <p:cNvSpPr txBox="1"/>
          <p:nvPr/>
        </p:nvSpPr>
        <p:spPr>
          <a:xfrm>
            <a:off x="2158007" y="8948356"/>
            <a:ext cx="15705911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מסקנה: ברמת הציוץ הבודד, הרעש רב מידי. קשה להבחין בין מודלים באמצעות מדדים יבשים. </a:t>
            </a:r>
          </a:p>
        </p:txBody>
      </p:sp>
    </p:spTree>
    <p:extLst>
      <p:ext uri="{BB962C8B-B14F-4D97-AF65-F5344CB8AC3E}">
        <p14:creationId xmlns:p14="http://schemas.microsoft.com/office/powerpoint/2010/main" val="1586389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96226-E246-57F7-EB82-52D209A0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3E0191B-975B-1431-B424-E620063A9D17}"/>
              </a:ext>
            </a:extLst>
          </p:cNvPr>
          <p:cNvGrpSpPr/>
          <p:nvPr/>
        </p:nvGrpSpPr>
        <p:grpSpPr>
          <a:xfrm>
            <a:off x="424082" y="-8962815"/>
            <a:ext cx="18212919" cy="19760855"/>
            <a:chOff x="0" y="-38100"/>
            <a:chExt cx="2043723" cy="520450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C8C4E41-4B81-9464-EB93-5D3B059B643B}"/>
                </a:ext>
              </a:extLst>
            </p:cNvPr>
            <p:cNvSpPr/>
            <p:nvPr/>
          </p:nvSpPr>
          <p:spPr>
            <a:xfrm>
              <a:off x="0" y="2134370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3A163FE-7746-5936-4EB1-6475503F143F}"/>
                </a:ext>
              </a:extLst>
            </p:cNvPr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45A6192A-00F4-1B82-BEE8-C8262E7B863B}"/>
              </a:ext>
            </a:extLst>
          </p:cNvPr>
          <p:cNvSpPr txBox="1"/>
          <p:nvPr/>
        </p:nvSpPr>
        <p:spPr>
          <a:xfrm>
            <a:off x="-1062446" y="592673"/>
            <a:ext cx="1890631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en-US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Event Study</a:t>
            </a: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: 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398584E9-B810-8A82-FCD2-3EC2BB10ADDF}"/>
              </a:ext>
            </a:extLst>
          </p:cNvPr>
          <p:cNvSpPr txBox="1"/>
          <p:nvPr/>
        </p:nvSpPr>
        <p:spPr>
          <a:xfrm>
            <a:off x="2158007" y="2636224"/>
            <a:ext cx="15705911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שובר השוויון - 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Event Study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ברמת ימים</a:t>
            </a:r>
          </a:p>
          <a:p>
            <a:pPr algn="r" rtl="1"/>
            <a:endParaRPr lang="he-IL" sz="36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במקום לבדוק ציוץ – ציוץ, בודקים ימים שלמים. </a:t>
            </a:r>
          </a:p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האם ימים שהמודל היה 'אופטימי' לגביהם הרוויחו יותר?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</p:txBody>
      </p:sp>
      <p:pic>
        <p:nvPicPr>
          <p:cNvPr id="7" name="תמונה 6" descr="תמונה שמכילה טקסט, צילום מסך, גופן, עיצוב">
            <a:extLst>
              <a:ext uri="{FF2B5EF4-FFF2-40B4-BE49-F238E27FC236}">
                <a16:creationId xmlns:a16="http://schemas.microsoft.com/office/drawing/2014/main" id="{0CC6755E-CF78-FC86-AB0F-525E92550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5143500"/>
            <a:ext cx="12608812" cy="507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18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7062D-C964-1C63-C2E8-69BB6E39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4">
            <a:extLst>
              <a:ext uri="{FF2B5EF4-FFF2-40B4-BE49-F238E27FC236}">
                <a16:creationId xmlns:a16="http://schemas.microsoft.com/office/drawing/2014/main" id="{102DC4A2-3E42-BB9A-5A84-00E53F2EC891}"/>
              </a:ext>
            </a:extLst>
          </p:cNvPr>
          <p:cNvSpPr/>
          <p:nvPr/>
        </p:nvSpPr>
        <p:spPr>
          <a:xfrm>
            <a:off x="424082" y="0"/>
            <a:ext cx="18212919" cy="10416265"/>
          </a:xfrm>
          <a:custGeom>
            <a:avLst/>
            <a:gdLst/>
            <a:ahLst/>
            <a:cxnLst/>
            <a:rect l="l" t="t" r="r" b="b"/>
            <a:pathLst>
              <a:path w="2043723" h="3032035">
                <a:moveTo>
                  <a:pt x="0" y="0"/>
                </a:moveTo>
                <a:lnTo>
                  <a:pt x="2043723" y="0"/>
                </a:lnTo>
                <a:lnTo>
                  <a:pt x="2043723" y="3032035"/>
                </a:lnTo>
                <a:lnTo>
                  <a:pt x="0" y="3032035"/>
                </a:lnTo>
                <a:close/>
              </a:path>
            </a:pathLst>
          </a:custGeom>
          <a:gradFill rotWithShape="1">
            <a:gsLst>
              <a:gs pos="0">
                <a:srgbClr val="0B4DAF">
                  <a:alpha val="0"/>
                </a:srgbClr>
              </a:gs>
              <a:gs pos="50000">
                <a:srgbClr val="00090D">
                  <a:alpha val="49000"/>
                </a:srgbClr>
              </a:gs>
              <a:gs pos="100000">
                <a:srgbClr val="000000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he-IL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1A378392-64CF-B25C-656D-0D1CF2650DFE}"/>
              </a:ext>
            </a:extLst>
          </p:cNvPr>
          <p:cNvGrpSpPr/>
          <p:nvPr/>
        </p:nvGrpSpPr>
        <p:grpSpPr>
          <a:xfrm rot="-10800000">
            <a:off x="0" y="-12334442"/>
            <a:ext cx="11022758" cy="22621442"/>
            <a:chOff x="0" y="-3635507"/>
            <a:chExt cx="2903113" cy="666754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C8F761F-92DA-D714-6C57-3ECDE21DE811}"/>
                </a:ext>
              </a:extLst>
            </p:cNvPr>
            <p:cNvSpPr/>
            <p:nvPr/>
          </p:nvSpPr>
          <p:spPr>
            <a:xfrm>
              <a:off x="92927" y="-3635507"/>
              <a:ext cx="2810186" cy="3032035"/>
            </a:xfrm>
            <a:custGeom>
              <a:avLst/>
              <a:gdLst/>
              <a:ahLst/>
              <a:cxnLst/>
              <a:rect l="l" t="t" r="r" b="b"/>
              <a:pathLst>
                <a:path w="2810186" h="3032035">
                  <a:moveTo>
                    <a:pt x="0" y="0"/>
                  </a:moveTo>
                  <a:lnTo>
                    <a:pt x="2810186" y="0"/>
                  </a:lnTo>
                  <a:lnTo>
                    <a:pt x="2810186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EC0DEC-3A36-3D30-BAF3-6ED76242397C}"/>
                </a:ext>
              </a:extLst>
            </p:cNvPr>
            <p:cNvSpPr txBox="1"/>
            <p:nvPr/>
          </p:nvSpPr>
          <p:spPr>
            <a:xfrm>
              <a:off x="0" y="-38100"/>
              <a:ext cx="2810186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B92E18F9-BEE1-869A-E3D5-33CC2684C15E}"/>
              </a:ext>
            </a:extLst>
          </p:cNvPr>
          <p:cNvSpPr/>
          <p:nvPr/>
        </p:nvSpPr>
        <p:spPr>
          <a:xfrm>
            <a:off x="13473811" y="7584228"/>
            <a:ext cx="5121833" cy="2858914"/>
          </a:xfrm>
          <a:custGeom>
            <a:avLst/>
            <a:gdLst/>
            <a:ahLst/>
            <a:cxnLst/>
            <a:rect l="l" t="t" r="r" b="b"/>
            <a:pathLst>
              <a:path w="5121833" h="2858914">
                <a:moveTo>
                  <a:pt x="0" y="0"/>
                </a:moveTo>
                <a:lnTo>
                  <a:pt x="5121832" y="0"/>
                </a:lnTo>
                <a:lnTo>
                  <a:pt x="5121832" y="2858914"/>
                </a:lnTo>
                <a:lnTo>
                  <a:pt x="0" y="2858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41294B6-52F8-852C-96C6-B8BD7062355D}"/>
              </a:ext>
            </a:extLst>
          </p:cNvPr>
          <p:cNvSpPr/>
          <p:nvPr/>
        </p:nvSpPr>
        <p:spPr>
          <a:xfrm>
            <a:off x="11239676" y="26877"/>
            <a:ext cx="5121833" cy="2858914"/>
          </a:xfrm>
          <a:custGeom>
            <a:avLst/>
            <a:gdLst/>
            <a:ahLst/>
            <a:cxnLst/>
            <a:rect l="l" t="t" r="r" b="b"/>
            <a:pathLst>
              <a:path w="5121833" h="2858914">
                <a:moveTo>
                  <a:pt x="0" y="0"/>
                </a:moveTo>
                <a:lnTo>
                  <a:pt x="5121833" y="0"/>
                </a:lnTo>
                <a:lnTo>
                  <a:pt x="5121833" y="2858913"/>
                </a:lnTo>
                <a:lnTo>
                  <a:pt x="0" y="2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CB474584-0724-4A80-29EF-E2B5F7414FA0}"/>
              </a:ext>
            </a:extLst>
          </p:cNvPr>
          <p:cNvSpPr txBox="1"/>
          <p:nvPr/>
        </p:nvSpPr>
        <p:spPr>
          <a:xfrm>
            <a:off x="-1042393" y="745926"/>
            <a:ext cx="1890631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השוואה: </a:t>
            </a: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B3C91A37-081B-1EC0-298B-4CCF3983E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421888"/>
            <a:ext cx="17254318" cy="701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39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02DFE-3BDB-BFC5-110D-B66D2382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4">
            <a:extLst>
              <a:ext uri="{FF2B5EF4-FFF2-40B4-BE49-F238E27FC236}">
                <a16:creationId xmlns:a16="http://schemas.microsoft.com/office/drawing/2014/main" id="{0F3A57A2-7D6E-2A64-754B-E70A7D36538C}"/>
              </a:ext>
            </a:extLst>
          </p:cNvPr>
          <p:cNvSpPr/>
          <p:nvPr/>
        </p:nvSpPr>
        <p:spPr>
          <a:xfrm>
            <a:off x="424082" y="0"/>
            <a:ext cx="18212919" cy="10416265"/>
          </a:xfrm>
          <a:custGeom>
            <a:avLst/>
            <a:gdLst/>
            <a:ahLst/>
            <a:cxnLst/>
            <a:rect l="l" t="t" r="r" b="b"/>
            <a:pathLst>
              <a:path w="2043723" h="3032035">
                <a:moveTo>
                  <a:pt x="0" y="0"/>
                </a:moveTo>
                <a:lnTo>
                  <a:pt x="2043723" y="0"/>
                </a:lnTo>
                <a:lnTo>
                  <a:pt x="2043723" y="3032035"/>
                </a:lnTo>
                <a:lnTo>
                  <a:pt x="0" y="3032035"/>
                </a:lnTo>
                <a:close/>
              </a:path>
            </a:pathLst>
          </a:custGeom>
          <a:gradFill rotWithShape="1">
            <a:gsLst>
              <a:gs pos="0">
                <a:srgbClr val="0B4DAF">
                  <a:alpha val="0"/>
                </a:srgbClr>
              </a:gs>
              <a:gs pos="50000">
                <a:srgbClr val="00090D">
                  <a:alpha val="49000"/>
                </a:srgbClr>
              </a:gs>
              <a:gs pos="100000">
                <a:srgbClr val="000000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he-IL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6499440C-97C7-0F10-C513-E3561EE3DEDD}"/>
              </a:ext>
            </a:extLst>
          </p:cNvPr>
          <p:cNvGrpSpPr/>
          <p:nvPr/>
        </p:nvGrpSpPr>
        <p:grpSpPr>
          <a:xfrm rot="-10800000">
            <a:off x="0" y="-12334442"/>
            <a:ext cx="11022758" cy="22621442"/>
            <a:chOff x="0" y="-3635507"/>
            <a:chExt cx="2903113" cy="666754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2F475B5-BF66-B421-6EEF-F791AF7AEA64}"/>
                </a:ext>
              </a:extLst>
            </p:cNvPr>
            <p:cNvSpPr/>
            <p:nvPr/>
          </p:nvSpPr>
          <p:spPr>
            <a:xfrm>
              <a:off x="92927" y="-3635507"/>
              <a:ext cx="2810186" cy="3032035"/>
            </a:xfrm>
            <a:custGeom>
              <a:avLst/>
              <a:gdLst/>
              <a:ahLst/>
              <a:cxnLst/>
              <a:rect l="l" t="t" r="r" b="b"/>
              <a:pathLst>
                <a:path w="2810186" h="3032035">
                  <a:moveTo>
                    <a:pt x="0" y="0"/>
                  </a:moveTo>
                  <a:lnTo>
                    <a:pt x="2810186" y="0"/>
                  </a:lnTo>
                  <a:lnTo>
                    <a:pt x="2810186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37B1C73-E72B-DC9E-66EF-9FAF562E085D}"/>
                </a:ext>
              </a:extLst>
            </p:cNvPr>
            <p:cNvSpPr txBox="1"/>
            <p:nvPr/>
          </p:nvSpPr>
          <p:spPr>
            <a:xfrm>
              <a:off x="0" y="-38100"/>
              <a:ext cx="2810186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10">
            <a:extLst>
              <a:ext uri="{FF2B5EF4-FFF2-40B4-BE49-F238E27FC236}">
                <a16:creationId xmlns:a16="http://schemas.microsoft.com/office/drawing/2014/main" id="{788530EC-F78C-E365-9354-D52BAB91F160}"/>
              </a:ext>
            </a:extLst>
          </p:cNvPr>
          <p:cNvSpPr txBox="1"/>
          <p:nvPr/>
        </p:nvSpPr>
        <p:spPr>
          <a:xfrm>
            <a:off x="3962400" y="745926"/>
            <a:ext cx="13901518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בדיקת יציבות : 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729BDC12-DF4A-8B72-B8DA-AF9A7DE46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60" y="5112307"/>
            <a:ext cx="8952740" cy="5000945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07A1D759-F4B5-C6CC-35C4-7BC92DB8B909}"/>
              </a:ext>
            </a:extLst>
          </p:cNvPr>
          <p:cNvSpPr txBox="1"/>
          <p:nvPr/>
        </p:nvSpPr>
        <p:spPr>
          <a:xfrm>
            <a:off x="964342" y="2804087"/>
            <a:ext cx="17132398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הרצת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Pipeline 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על דאטה גדול: 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K330 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ציוצים (1500 ביום).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שמירה על מתודולוגיה זהה.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ברמת ציוץ - המדדים נשארו דומים.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בבדיקת 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Event Study 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ברמת ימים התקבלה אותה תמונה. 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5C5097E6-2252-BFD2-12AC-0A4B63F1331B}"/>
              </a:ext>
            </a:extLst>
          </p:cNvPr>
          <p:cNvSpPr txBox="1"/>
          <p:nvPr/>
        </p:nvSpPr>
        <p:spPr>
          <a:xfrm>
            <a:off x="9128759" y="6181618"/>
            <a:ext cx="8952741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מסקנה: הגדלת הדאטה שיפרה יציבות, אבל לא שינתה את המסקנה המרכזית — הסיגנל מהטקסט קצר מוגבל ולכן נדרש מודל/דאטה עשיר יותר כדי לראות שיפור משמעותי.</a:t>
            </a:r>
          </a:p>
        </p:txBody>
      </p:sp>
    </p:spTree>
    <p:extLst>
      <p:ext uri="{BB962C8B-B14F-4D97-AF65-F5344CB8AC3E}">
        <p14:creationId xmlns:p14="http://schemas.microsoft.com/office/powerpoint/2010/main" val="375237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4">
            <a:extLst>
              <a:ext uri="{FF2B5EF4-FFF2-40B4-BE49-F238E27FC236}">
                <a16:creationId xmlns:a16="http://schemas.microsoft.com/office/drawing/2014/main" id="{1B2E1D07-7FD0-B951-F9F0-BC534DA3BBE6}"/>
              </a:ext>
            </a:extLst>
          </p:cNvPr>
          <p:cNvSpPr/>
          <p:nvPr/>
        </p:nvSpPr>
        <p:spPr>
          <a:xfrm>
            <a:off x="424082" y="0"/>
            <a:ext cx="18212919" cy="10416265"/>
          </a:xfrm>
          <a:custGeom>
            <a:avLst/>
            <a:gdLst/>
            <a:ahLst/>
            <a:cxnLst/>
            <a:rect l="l" t="t" r="r" b="b"/>
            <a:pathLst>
              <a:path w="2043723" h="3032035">
                <a:moveTo>
                  <a:pt x="0" y="0"/>
                </a:moveTo>
                <a:lnTo>
                  <a:pt x="2043723" y="0"/>
                </a:lnTo>
                <a:lnTo>
                  <a:pt x="2043723" y="3032035"/>
                </a:lnTo>
                <a:lnTo>
                  <a:pt x="0" y="3032035"/>
                </a:lnTo>
                <a:close/>
              </a:path>
            </a:pathLst>
          </a:custGeom>
          <a:gradFill rotWithShape="1">
            <a:gsLst>
              <a:gs pos="0">
                <a:srgbClr val="0B4DAF">
                  <a:alpha val="0"/>
                </a:srgbClr>
              </a:gs>
              <a:gs pos="50000">
                <a:srgbClr val="00090D">
                  <a:alpha val="49000"/>
                </a:srgbClr>
              </a:gs>
              <a:gs pos="100000">
                <a:srgbClr val="000000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he-IL" dirty="0"/>
          </a:p>
        </p:txBody>
      </p:sp>
      <p:grpSp>
        <p:nvGrpSpPr>
          <p:cNvPr id="2" name="Group 2"/>
          <p:cNvGrpSpPr/>
          <p:nvPr/>
        </p:nvGrpSpPr>
        <p:grpSpPr>
          <a:xfrm rot="-10800000">
            <a:off x="34845" y="-6425178"/>
            <a:ext cx="11572902" cy="16677681"/>
            <a:chOff x="0" y="-1883617"/>
            <a:chExt cx="3048007" cy="4915652"/>
          </a:xfrm>
        </p:grpSpPr>
        <p:sp>
          <p:nvSpPr>
            <p:cNvPr id="3" name="Freeform 3"/>
            <p:cNvSpPr/>
            <p:nvPr/>
          </p:nvSpPr>
          <p:spPr>
            <a:xfrm>
              <a:off x="237821" y="-1883617"/>
              <a:ext cx="2810186" cy="3032035"/>
            </a:xfrm>
            <a:custGeom>
              <a:avLst/>
              <a:gdLst/>
              <a:ahLst/>
              <a:cxnLst/>
              <a:rect l="l" t="t" r="r" b="b"/>
              <a:pathLst>
                <a:path w="2810186" h="3032035">
                  <a:moveTo>
                    <a:pt x="0" y="0"/>
                  </a:moveTo>
                  <a:lnTo>
                    <a:pt x="2810186" y="0"/>
                  </a:lnTo>
                  <a:lnTo>
                    <a:pt x="2810186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10186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32634" y="2565168"/>
            <a:ext cx="6879575" cy="3318955"/>
            <a:chOff x="0" y="0"/>
            <a:chExt cx="990303" cy="5141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0303" cy="514193"/>
            </a:xfrm>
            <a:custGeom>
              <a:avLst/>
              <a:gdLst/>
              <a:ahLst/>
              <a:cxnLst/>
              <a:rect l="l" t="t" r="r" b="b"/>
              <a:pathLst>
                <a:path w="990303" h="514193">
                  <a:moveTo>
                    <a:pt x="27857" y="0"/>
                  </a:moveTo>
                  <a:lnTo>
                    <a:pt x="962446" y="0"/>
                  </a:lnTo>
                  <a:cubicBezTo>
                    <a:pt x="977831" y="0"/>
                    <a:pt x="990303" y="12472"/>
                    <a:pt x="990303" y="27857"/>
                  </a:cubicBezTo>
                  <a:lnTo>
                    <a:pt x="990303" y="486336"/>
                  </a:lnTo>
                  <a:cubicBezTo>
                    <a:pt x="990303" y="493724"/>
                    <a:pt x="987368" y="500810"/>
                    <a:pt x="982144" y="506034"/>
                  </a:cubicBezTo>
                  <a:cubicBezTo>
                    <a:pt x="976920" y="511258"/>
                    <a:pt x="969834" y="514193"/>
                    <a:pt x="962446" y="514193"/>
                  </a:cubicBezTo>
                  <a:lnTo>
                    <a:pt x="27857" y="514193"/>
                  </a:lnTo>
                  <a:cubicBezTo>
                    <a:pt x="12472" y="514193"/>
                    <a:pt x="0" y="501721"/>
                    <a:pt x="0" y="486336"/>
                  </a:cubicBezTo>
                  <a:lnTo>
                    <a:pt x="0" y="27857"/>
                  </a:lnTo>
                  <a:cubicBezTo>
                    <a:pt x="0" y="20469"/>
                    <a:pt x="2935" y="13383"/>
                    <a:pt x="8159" y="8159"/>
                  </a:cubicBezTo>
                  <a:cubicBezTo>
                    <a:pt x="13383" y="2935"/>
                    <a:pt x="20469" y="0"/>
                    <a:pt x="27857" y="0"/>
                  </a:cubicBezTo>
                  <a:close/>
                </a:path>
              </a:pathLst>
            </a:custGeom>
            <a:blipFill>
              <a:blip r:embed="rId3"/>
              <a:stretch>
                <a:fillRect t="-1037" b="-1037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032634" y="6093105"/>
            <a:ext cx="6879575" cy="3318955"/>
            <a:chOff x="0" y="0"/>
            <a:chExt cx="990303" cy="5141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0303" cy="514193"/>
            </a:xfrm>
            <a:custGeom>
              <a:avLst/>
              <a:gdLst/>
              <a:ahLst/>
              <a:cxnLst/>
              <a:rect l="l" t="t" r="r" b="b"/>
              <a:pathLst>
                <a:path w="990303" h="514193">
                  <a:moveTo>
                    <a:pt x="27857" y="0"/>
                  </a:moveTo>
                  <a:lnTo>
                    <a:pt x="962446" y="0"/>
                  </a:lnTo>
                  <a:cubicBezTo>
                    <a:pt x="977831" y="0"/>
                    <a:pt x="990303" y="12472"/>
                    <a:pt x="990303" y="27857"/>
                  </a:cubicBezTo>
                  <a:lnTo>
                    <a:pt x="990303" y="486336"/>
                  </a:lnTo>
                  <a:cubicBezTo>
                    <a:pt x="990303" y="493724"/>
                    <a:pt x="987368" y="500810"/>
                    <a:pt x="982144" y="506034"/>
                  </a:cubicBezTo>
                  <a:cubicBezTo>
                    <a:pt x="976920" y="511258"/>
                    <a:pt x="969834" y="514193"/>
                    <a:pt x="962446" y="514193"/>
                  </a:cubicBezTo>
                  <a:lnTo>
                    <a:pt x="27857" y="514193"/>
                  </a:lnTo>
                  <a:cubicBezTo>
                    <a:pt x="12472" y="514193"/>
                    <a:pt x="0" y="501721"/>
                    <a:pt x="0" y="486336"/>
                  </a:cubicBezTo>
                  <a:lnTo>
                    <a:pt x="0" y="27857"/>
                  </a:lnTo>
                  <a:cubicBezTo>
                    <a:pt x="0" y="20469"/>
                    <a:pt x="2935" y="13383"/>
                    <a:pt x="8159" y="8159"/>
                  </a:cubicBezTo>
                  <a:cubicBezTo>
                    <a:pt x="13383" y="2935"/>
                    <a:pt x="20469" y="0"/>
                    <a:pt x="27857" y="0"/>
                  </a:cubicBezTo>
                  <a:close/>
                </a:path>
              </a:pathLst>
            </a:custGeom>
            <a:blipFill>
              <a:blip r:embed="rId4"/>
              <a:stretch>
                <a:fillRect l="-11812" r="-1181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473811" y="7584228"/>
            <a:ext cx="5121833" cy="2858914"/>
          </a:xfrm>
          <a:custGeom>
            <a:avLst/>
            <a:gdLst/>
            <a:ahLst/>
            <a:cxnLst/>
            <a:rect l="l" t="t" r="r" b="b"/>
            <a:pathLst>
              <a:path w="5121833" h="2858914">
                <a:moveTo>
                  <a:pt x="0" y="0"/>
                </a:moveTo>
                <a:lnTo>
                  <a:pt x="5121832" y="0"/>
                </a:lnTo>
                <a:lnTo>
                  <a:pt x="5121832" y="2858914"/>
                </a:lnTo>
                <a:lnTo>
                  <a:pt x="0" y="2858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Freeform 12"/>
          <p:cNvSpPr/>
          <p:nvPr/>
        </p:nvSpPr>
        <p:spPr>
          <a:xfrm>
            <a:off x="11239676" y="26877"/>
            <a:ext cx="5121833" cy="2858914"/>
          </a:xfrm>
          <a:custGeom>
            <a:avLst/>
            <a:gdLst/>
            <a:ahLst/>
            <a:cxnLst/>
            <a:rect l="l" t="t" r="r" b="b"/>
            <a:pathLst>
              <a:path w="5121833" h="2858914">
                <a:moveTo>
                  <a:pt x="0" y="0"/>
                </a:moveTo>
                <a:lnTo>
                  <a:pt x="5121833" y="0"/>
                </a:lnTo>
                <a:lnTo>
                  <a:pt x="5121833" y="2858913"/>
                </a:lnTo>
                <a:lnTo>
                  <a:pt x="0" y="2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1" name="קבוצה 30">
            <a:extLst>
              <a:ext uri="{FF2B5EF4-FFF2-40B4-BE49-F238E27FC236}">
                <a16:creationId xmlns:a16="http://schemas.microsoft.com/office/drawing/2014/main" id="{2A8B37FA-8ED4-0728-DB3C-40F407016E62}"/>
              </a:ext>
            </a:extLst>
          </p:cNvPr>
          <p:cNvGrpSpPr/>
          <p:nvPr/>
        </p:nvGrpSpPr>
        <p:grpSpPr>
          <a:xfrm>
            <a:off x="847272" y="2304074"/>
            <a:ext cx="9948048" cy="7495266"/>
            <a:chOff x="533400" y="753384"/>
            <a:chExt cx="9948048" cy="749526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8E8E548-CFAE-BB9A-A2FB-B42348FA88B5}"/>
                </a:ext>
              </a:extLst>
            </p:cNvPr>
            <p:cNvGrpSpPr/>
            <p:nvPr/>
          </p:nvGrpSpPr>
          <p:grpSpPr>
            <a:xfrm>
              <a:off x="533400" y="6515100"/>
              <a:ext cx="9948048" cy="1733550"/>
              <a:chOff x="0" y="0"/>
              <a:chExt cx="2132346" cy="456573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8CBD1F0-3FCD-8176-576B-FFFBBA41FC4D}"/>
                  </a:ext>
                </a:extLst>
              </p:cNvPr>
              <p:cNvSpPr/>
              <p:nvPr/>
            </p:nvSpPr>
            <p:spPr>
              <a:xfrm>
                <a:off x="0" y="0"/>
                <a:ext cx="2132346" cy="456573"/>
              </a:xfrm>
              <a:custGeom>
                <a:avLst/>
                <a:gdLst/>
                <a:ahLst/>
                <a:cxnLst/>
                <a:rect l="l" t="t" r="r" b="b"/>
                <a:pathLst>
                  <a:path w="2132346" h="456573">
                    <a:moveTo>
                      <a:pt x="26775" y="0"/>
                    </a:moveTo>
                    <a:lnTo>
                      <a:pt x="2105571" y="0"/>
                    </a:lnTo>
                    <a:cubicBezTo>
                      <a:pt x="2112672" y="0"/>
                      <a:pt x="2119482" y="2821"/>
                      <a:pt x="2124503" y="7842"/>
                    </a:cubicBezTo>
                    <a:cubicBezTo>
                      <a:pt x="2129525" y="12863"/>
                      <a:pt x="2132346" y="19674"/>
                      <a:pt x="2132346" y="26775"/>
                    </a:cubicBezTo>
                    <a:lnTo>
                      <a:pt x="2132346" y="429798"/>
                    </a:lnTo>
                    <a:cubicBezTo>
                      <a:pt x="2132346" y="436899"/>
                      <a:pt x="2129525" y="443710"/>
                      <a:pt x="2124503" y="448731"/>
                    </a:cubicBezTo>
                    <a:cubicBezTo>
                      <a:pt x="2119482" y="453752"/>
                      <a:pt x="2112672" y="456573"/>
                      <a:pt x="2105571" y="456573"/>
                    </a:cubicBezTo>
                    <a:lnTo>
                      <a:pt x="26775" y="456573"/>
                    </a:lnTo>
                    <a:cubicBezTo>
                      <a:pt x="19674" y="456573"/>
                      <a:pt x="12863" y="453752"/>
                      <a:pt x="7842" y="448731"/>
                    </a:cubicBezTo>
                    <a:cubicBezTo>
                      <a:pt x="2821" y="443710"/>
                      <a:pt x="0" y="436899"/>
                      <a:pt x="0" y="429798"/>
                    </a:cubicBezTo>
                    <a:lnTo>
                      <a:pt x="0" y="26775"/>
                    </a:lnTo>
                    <a:cubicBezTo>
                      <a:pt x="0" y="19674"/>
                      <a:pt x="2821" y="12863"/>
                      <a:pt x="7842" y="7842"/>
                    </a:cubicBezTo>
                    <a:cubicBezTo>
                      <a:pt x="12863" y="2821"/>
                      <a:pt x="19674" y="0"/>
                      <a:pt x="26775" y="0"/>
                    </a:cubicBezTo>
                    <a:close/>
                  </a:path>
                </a:pathLst>
              </a:custGeom>
              <a:ln w="38100" cap="rnd">
                <a:gradFill>
                  <a:gsLst>
                    <a:gs pos="0">
                      <a:srgbClr val="15C0E9">
                        <a:alpha val="100000"/>
                      </a:srgbClr>
                    </a:gs>
                    <a:gs pos="100000">
                      <a:srgbClr val="00579A">
                        <a:alpha val="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he-IL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C9FEAE-1018-B18B-C632-08DBE40F52D8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2132346" cy="4375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71"/>
                  </a:lnSpc>
                </a:pPr>
                <a:endParaRPr/>
              </a:p>
            </p:txBody>
          </p:sp>
        </p:grpSp>
        <p:grpSp>
          <p:nvGrpSpPr>
            <p:cNvPr id="22" name="Group 18">
              <a:extLst>
                <a:ext uri="{FF2B5EF4-FFF2-40B4-BE49-F238E27FC236}">
                  <a16:creationId xmlns:a16="http://schemas.microsoft.com/office/drawing/2014/main" id="{F9106B11-735C-B2F7-0E46-C5F48C8BA798}"/>
                </a:ext>
              </a:extLst>
            </p:cNvPr>
            <p:cNvGrpSpPr/>
            <p:nvPr/>
          </p:nvGrpSpPr>
          <p:grpSpPr>
            <a:xfrm>
              <a:off x="533400" y="4594528"/>
              <a:ext cx="9948048" cy="1733550"/>
              <a:chOff x="0" y="0"/>
              <a:chExt cx="2132346" cy="456573"/>
            </a:xfrm>
          </p:grpSpPr>
          <p:sp>
            <p:nvSpPr>
              <p:cNvPr id="23" name="Freeform 19">
                <a:extLst>
                  <a:ext uri="{FF2B5EF4-FFF2-40B4-BE49-F238E27FC236}">
                    <a16:creationId xmlns:a16="http://schemas.microsoft.com/office/drawing/2014/main" id="{3A44B918-28C8-3DCB-3C45-CED93F8BA859}"/>
                  </a:ext>
                </a:extLst>
              </p:cNvPr>
              <p:cNvSpPr/>
              <p:nvPr/>
            </p:nvSpPr>
            <p:spPr>
              <a:xfrm>
                <a:off x="0" y="0"/>
                <a:ext cx="2132346" cy="456573"/>
              </a:xfrm>
              <a:custGeom>
                <a:avLst/>
                <a:gdLst/>
                <a:ahLst/>
                <a:cxnLst/>
                <a:rect l="l" t="t" r="r" b="b"/>
                <a:pathLst>
                  <a:path w="2132346" h="456573">
                    <a:moveTo>
                      <a:pt x="26775" y="0"/>
                    </a:moveTo>
                    <a:lnTo>
                      <a:pt x="2105571" y="0"/>
                    </a:lnTo>
                    <a:cubicBezTo>
                      <a:pt x="2112672" y="0"/>
                      <a:pt x="2119482" y="2821"/>
                      <a:pt x="2124503" y="7842"/>
                    </a:cubicBezTo>
                    <a:cubicBezTo>
                      <a:pt x="2129525" y="12863"/>
                      <a:pt x="2132346" y="19674"/>
                      <a:pt x="2132346" y="26775"/>
                    </a:cubicBezTo>
                    <a:lnTo>
                      <a:pt x="2132346" y="429798"/>
                    </a:lnTo>
                    <a:cubicBezTo>
                      <a:pt x="2132346" y="436899"/>
                      <a:pt x="2129525" y="443710"/>
                      <a:pt x="2124503" y="448731"/>
                    </a:cubicBezTo>
                    <a:cubicBezTo>
                      <a:pt x="2119482" y="453752"/>
                      <a:pt x="2112672" y="456573"/>
                      <a:pt x="2105571" y="456573"/>
                    </a:cubicBezTo>
                    <a:lnTo>
                      <a:pt x="26775" y="456573"/>
                    </a:lnTo>
                    <a:cubicBezTo>
                      <a:pt x="19674" y="456573"/>
                      <a:pt x="12863" y="453752"/>
                      <a:pt x="7842" y="448731"/>
                    </a:cubicBezTo>
                    <a:cubicBezTo>
                      <a:pt x="2821" y="443710"/>
                      <a:pt x="0" y="436899"/>
                      <a:pt x="0" y="429798"/>
                    </a:cubicBezTo>
                    <a:lnTo>
                      <a:pt x="0" y="26775"/>
                    </a:lnTo>
                    <a:cubicBezTo>
                      <a:pt x="0" y="19674"/>
                      <a:pt x="2821" y="12863"/>
                      <a:pt x="7842" y="7842"/>
                    </a:cubicBezTo>
                    <a:cubicBezTo>
                      <a:pt x="12863" y="2821"/>
                      <a:pt x="19674" y="0"/>
                      <a:pt x="26775" y="0"/>
                    </a:cubicBezTo>
                    <a:close/>
                  </a:path>
                </a:pathLst>
              </a:custGeom>
              <a:ln w="38100" cap="rnd">
                <a:gradFill>
                  <a:gsLst>
                    <a:gs pos="0">
                      <a:srgbClr val="15C0E9">
                        <a:alpha val="100000"/>
                      </a:srgbClr>
                    </a:gs>
                    <a:gs pos="100000">
                      <a:srgbClr val="00579A">
                        <a:alpha val="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4" name="TextBox 20">
                <a:extLst>
                  <a:ext uri="{FF2B5EF4-FFF2-40B4-BE49-F238E27FC236}">
                    <a16:creationId xmlns:a16="http://schemas.microsoft.com/office/drawing/2014/main" id="{1B2747CF-5187-5ADD-1091-813D73940197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2132346" cy="4375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71"/>
                  </a:lnSpc>
                </a:pPr>
                <a:endParaRPr/>
              </a:p>
            </p:txBody>
          </p:sp>
        </p:grpSp>
        <p:grpSp>
          <p:nvGrpSpPr>
            <p:cNvPr id="25" name="Group 18">
              <a:extLst>
                <a:ext uri="{FF2B5EF4-FFF2-40B4-BE49-F238E27FC236}">
                  <a16:creationId xmlns:a16="http://schemas.microsoft.com/office/drawing/2014/main" id="{8FFE081B-6B4F-4B56-921C-31F5B50F9674}"/>
                </a:ext>
              </a:extLst>
            </p:cNvPr>
            <p:cNvGrpSpPr/>
            <p:nvPr/>
          </p:nvGrpSpPr>
          <p:grpSpPr>
            <a:xfrm>
              <a:off x="533400" y="2673956"/>
              <a:ext cx="9948048" cy="1733550"/>
              <a:chOff x="0" y="0"/>
              <a:chExt cx="2132346" cy="456573"/>
            </a:xfrm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1588FC7F-B075-4DDF-4168-71446F74CA7D}"/>
                  </a:ext>
                </a:extLst>
              </p:cNvPr>
              <p:cNvSpPr/>
              <p:nvPr/>
            </p:nvSpPr>
            <p:spPr>
              <a:xfrm>
                <a:off x="0" y="0"/>
                <a:ext cx="2132346" cy="456573"/>
              </a:xfrm>
              <a:custGeom>
                <a:avLst/>
                <a:gdLst/>
                <a:ahLst/>
                <a:cxnLst/>
                <a:rect l="l" t="t" r="r" b="b"/>
                <a:pathLst>
                  <a:path w="2132346" h="456573">
                    <a:moveTo>
                      <a:pt x="26775" y="0"/>
                    </a:moveTo>
                    <a:lnTo>
                      <a:pt x="2105571" y="0"/>
                    </a:lnTo>
                    <a:cubicBezTo>
                      <a:pt x="2112672" y="0"/>
                      <a:pt x="2119482" y="2821"/>
                      <a:pt x="2124503" y="7842"/>
                    </a:cubicBezTo>
                    <a:cubicBezTo>
                      <a:pt x="2129525" y="12863"/>
                      <a:pt x="2132346" y="19674"/>
                      <a:pt x="2132346" y="26775"/>
                    </a:cubicBezTo>
                    <a:lnTo>
                      <a:pt x="2132346" y="429798"/>
                    </a:lnTo>
                    <a:cubicBezTo>
                      <a:pt x="2132346" y="436899"/>
                      <a:pt x="2129525" y="443710"/>
                      <a:pt x="2124503" y="448731"/>
                    </a:cubicBezTo>
                    <a:cubicBezTo>
                      <a:pt x="2119482" y="453752"/>
                      <a:pt x="2112672" y="456573"/>
                      <a:pt x="2105571" y="456573"/>
                    </a:cubicBezTo>
                    <a:lnTo>
                      <a:pt x="26775" y="456573"/>
                    </a:lnTo>
                    <a:cubicBezTo>
                      <a:pt x="19674" y="456573"/>
                      <a:pt x="12863" y="453752"/>
                      <a:pt x="7842" y="448731"/>
                    </a:cubicBezTo>
                    <a:cubicBezTo>
                      <a:pt x="2821" y="443710"/>
                      <a:pt x="0" y="436899"/>
                      <a:pt x="0" y="429798"/>
                    </a:cubicBezTo>
                    <a:lnTo>
                      <a:pt x="0" y="26775"/>
                    </a:lnTo>
                    <a:cubicBezTo>
                      <a:pt x="0" y="19674"/>
                      <a:pt x="2821" y="12863"/>
                      <a:pt x="7842" y="7842"/>
                    </a:cubicBezTo>
                    <a:cubicBezTo>
                      <a:pt x="12863" y="2821"/>
                      <a:pt x="19674" y="0"/>
                      <a:pt x="26775" y="0"/>
                    </a:cubicBezTo>
                    <a:close/>
                  </a:path>
                </a:pathLst>
              </a:custGeom>
              <a:ln w="38100" cap="rnd">
                <a:gradFill>
                  <a:gsLst>
                    <a:gs pos="0">
                      <a:srgbClr val="15C0E9">
                        <a:alpha val="100000"/>
                      </a:srgbClr>
                    </a:gs>
                    <a:gs pos="100000">
                      <a:srgbClr val="00579A">
                        <a:alpha val="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7" name="TextBox 20">
                <a:extLst>
                  <a:ext uri="{FF2B5EF4-FFF2-40B4-BE49-F238E27FC236}">
                    <a16:creationId xmlns:a16="http://schemas.microsoft.com/office/drawing/2014/main" id="{D94790C7-D6E4-21AD-0E92-C572761FC5F7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2132346" cy="4375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71"/>
                  </a:lnSpc>
                </a:pPr>
                <a:endParaRPr/>
              </a:p>
            </p:txBody>
          </p:sp>
        </p:grpSp>
        <p:grpSp>
          <p:nvGrpSpPr>
            <p:cNvPr id="28" name="Group 18">
              <a:extLst>
                <a:ext uri="{FF2B5EF4-FFF2-40B4-BE49-F238E27FC236}">
                  <a16:creationId xmlns:a16="http://schemas.microsoft.com/office/drawing/2014/main" id="{0E35E5D7-03EC-7370-0FD5-84FDC6DED014}"/>
                </a:ext>
              </a:extLst>
            </p:cNvPr>
            <p:cNvGrpSpPr/>
            <p:nvPr/>
          </p:nvGrpSpPr>
          <p:grpSpPr>
            <a:xfrm>
              <a:off x="533400" y="753384"/>
              <a:ext cx="9948048" cy="1733550"/>
              <a:chOff x="0" y="0"/>
              <a:chExt cx="2132346" cy="456573"/>
            </a:xfrm>
          </p:grpSpPr>
          <p:sp>
            <p:nvSpPr>
              <p:cNvPr id="29" name="Freeform 19">
                <a:extLst>
                  <a:ext uri="{FF2B5EF4-FFF2-40B4-BE49-F238E27FC236}">
                    <a16:creationId xmlns:a16="http://schemas.microsoft.com/office/drawing/2014/main" id="{E83207F3-CB2B-40B1-6244-B9BEEF12E014}"/>
                  </a:ext>
                </a:extLst>
              </p:cNvPr>
              <p:cNvSpPr/>
              <p:nvPr/>
            </p:nvSpPr>
            <p:spPr>
              <a:xfrm>
                <a:off x="0" y="0"/>
                <a:ext cx="2132346" cy="456573"/>
              </a:xfrm>
              <a:custGeom>
                <a:avLst/>
                <a:gdLst/>
                <a:ahLst/>
                <a:cxnLst/>
                <a:rect l="l" t="t" r="r" b="b"/>
                <a:pathLst>
                  <a:path w="2132346" h="456573">
                    <a:moveTo>
                      <a:pt x="26775" y="0"/>
                    </a:moveTo>
                    <a:lnTo>
                      <a:pt x="2105571" y="0"/>
                    </a:lnTo>
                    <a:cubicBezTo>
                      <a:pt x="2112672" y="0"/>
                      <a:pt x="2119482" y="2821"/>
                      <a:pt x="2124503" y="7842"/>
                    </a:cubicBezTo>
                    <a:cubicBezTo>
                      <a:pt x="2129525" y="12863"/>
                      <a:pt x="2132346" y="19674"/>
                      <a:pt x="2132346" y="26775"/>
                    </a:cubicBezTo>
                    <a:lnTo>
                      <a:pt x="2132346" y="429798"/>
                    </a:lnTo>
                    <a:cubicBezTo>
                      <a:pt x="2132346" y="436899"/>
                      <a:pt x="2129525" y="443710"/>
                      <a:pt x="2124503" y="448731"/>
                    </a:cubicBezTo>
                    <a:cubicBezTo>
                      <a:pt x="2119482" y="453752"/>
                      <a:pt x="2112672" y="456573"/>
                      <a:pt x="2105571" y="456573"/>
                    </a:cubicBezTo>
                    <a:lnTo>
                      <a:pt x="26775" y="456573"/>
                    </a:lnTo>
                    <a:cubicBezTo>
                      <a:pt x="19674" y="456573"/>
                      <a:pt x="12863" y="453752"/>
                      <a:pt x="7842" y="448731"/>
                    </a:cubicBezTo>
                    <a:cubicBezTo>
                      <a:pt x="2821" y="443710"/>
                      <a:pt x="0" y="436899"/>
                      <a:pt x="0" y="429798"/>
                    </a:cubicBezTo>
                    <a:lnTo>
                      <a:pt x="0" y="26775"/>
                    </a:lnTo>
                    <a:cubicBezTo>
                      <a:pt x="0" y="19674"/>
                      <a:pt x="2821" y="12863"/>
                      <a:pt x="7842" y="7842"/>
                    </a:cubicBezTo>
                    <a:cubicBezTo>
                      <a:pt x="12863" y="2821"/>
                      <a:pt x="19674" y="0"/>
                      <a:pt x="26775" y="0"/>
                    </a:cubicBezTo>
                    <a:close/>
                  </a:path>
                </a:pathLst>
              </a:custGeom>
              <a:ln w="38100" cap="rnd">
                <a:gradFill>
                  <a:gsLst>
                    <a:gs pos="0">
                      <a:srgbClr val="15C0E9">
                        <a:alpha val="100000"/>
                      </a:srgbClr>
                    </a:gs>
                    <a:gs pos="100000">
                      <a:srgbClr val="00579A">
                        <a:alpha val="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0" name="TextBox 20">
                <a:extLst>
                  <a:ext uri="{FF2B5EF4-FFF2-40B4-BE49-F238E27FC236}">
                    <a16:creationId xmlns:a16="http://schemas.microsoft.com/office/drawing/2014/main" id="{F10A5DB6-9131-404B-B545-C9E36A98FD9D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2132346" cy="4375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71"/>
                  </a:lnSpc>
                </a:pPr>
                <a:endParaRPr/>
              </a:p>
            </p:txBody>
          </p:sp>
        </p:grpSp>
      </p:grp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E0D1D05E-B9F8-AB8E-4A3E-AEEA79D98DCC}"/>
              </a:ext>
            </a:extLst>
          </p:cNvPr>
          <p:cNvSpPr txBox="1"/>
          <p:nvPr/>
        </p:nvSpPr>
        <p:spPr>
          <a:xfrm>
            <a:off x="-2038681" y="2946028"/>
            <a:ext cx="1066992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מניעת דליפת מידע (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Leakage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)</a:t>
            </a:r>
            <a:endParaRPr lang="he-IL" sz="3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8" name="תיבת טקסט 37">
            <a:extLst>
              <a:ext uri="{FF2B5EF4-FFF2-40B4-BE49-F238E27FC236}">
                <a16:creationId xmlns:a16="http://schemas.microsoft.com/office/drawing/2014/main" id="{9B537B95-D34B-221D-F19D-FE6F49294601}"/>
              </a:ext>
            </a:extLst>
          </p:cNvPr>
          <p:cNvSpPr txBox="1"/>
          <p:nvPr/>
        </p:nvSpPr>
        <p:spPr>
          <a:xfrm>
            <a:off x="362708" y="4655867"/>
            <a:ext cx="829672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הסיגנל בטקסט חלש ברמת ציוץ, אבל מתגלה ברמת יום</a:t>
            </a:r>
            <a:endParaRPr lang="he-IL" sz="3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9" name="תיבת טקסט 38">
            <a:extLst>
              <a:ext uri="{FF2B5EF4-FFF2-40B4-BE49-F238E27FC236}">
                <a16:creationId xmlns:a16="http://schemas.microsoft.com/office/drawing/2014/main" id="{6B14E63C-AD4E-7169-5A4B-559AC10B7F70}"/>
              </a:ext>
            </a:extLst>
          </p:cNvPr>
          <p:cNvSpPr txBox="1"/>
          <p:nvPr/>
        </p:nvSpPr>
        <p:spPr>
          <a:xfrm>
            <a:off x="487744" y="6611132"/>
            <a:ext cx="81435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השוואה הוגנת </a:t>
            </a:r>
            <a:r>
              <a:rPr lang="en-US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Baseline</a:t>
            </a:r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חזקה מוכיחה יושרה מדעית</a:t>
            </a:r>
            <a:endParaRPr lang="he-IL" sz="3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0" name="תיבת טקסט 39">
            <a:extLst>
              <a:ext uri="{FF2B5EF4-FFF2-40B4-BE49-F238E27FC236}">
                <a16:creationId xmlns:a16="http://schemas.microsoft.com/office/drawing/2014/main" id="{C89CBEDA-EFAF-4C5F-6B05-9768E29F2222}"/>
              </a:ext>
            </a:extLst>
          </p:cNvPr>
          <p:cNvSpPr txBox="1"/>
          <p:nvPr/>
        </p:nvSpPr>
        <p:spPr>
          <a:xfrm>
            <a:off x="439322" y="8413520"/>
            <a:ext cx="81435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בדיקת יציבות על דאטה גדול מחזקת שהממצאים לא מקריים</a:t>
            </a:r>
            <a:endParaRPr lang="he-IL" sz="3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0E64592C-BAB9-B22A-3AC3-14833DB1D242}"/>
              </a:ext>
            </a:extLst>
          </p:cNvPr>
          <p:cNvSpPr txBox="1"/>
          <p:nvPr/>
        </p:nvSpPr>
        <p:spPr>
          <a:xfrm>
            <a:off x="-1042393" y="745926"/>
            <a:ext cx="18906311" cy="15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12455"/>
              </a:lnSpc>
              <a:spcBef>
                <a:spcPct val="0"/>
              </a:spcBef>
            </a:pPr>
            <a:r>
              <a:rPr lang="he-IL" sz="8800" b="1" dirty="0">
                <a:solidFill>
                  <a:srgbClr val="A6CBF5"/>
                </a:solidFill>
                <a:cs typeface="Calibri (MS) Bold"/>
                <a:sym typeface="Calibri (MS) Bold"/>
                <a:rtl/>
              </a:rPr>
              <a:t>מסקנות</a:t>
            </a:r>
            <a:r>
              <a:rPr lang="he-IL" sz="8800" b="1" dirty="0">
                <a:solidFill>
                  <a:srgbClr val="A6CBF5"/>
                </a:solidFill>
                <a:ea typeface="Calibri (MS) Bold"/>
                <a:cs typeface="Calibri (MS) Bold"/>
                <a:sym typeface="Calibri (MS) Bold"/>
                <a:rtl/>
              </a:rPr>
              <a:t>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22A6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57960" y="-514350"/>
            <a:ext cx="7759759" cy="11512258"/>
            <a:chOff x="0" y="0"/>
            <a:chExt cx="2043723" cy="3032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43723" cy="3032035"/>
            </a:xfrm>
            <a:custGeom>
              <a:avLst/>
              <a:gdLst/>
              <a:ahLst/>
              <a:cxnLst/>
              <a:rect l="l" t="t" r="r" b="b"/>
              <a:pathLst>
                <a:path w="2043723" h="3032035">
                  <a:moveTo>
                    <a:pt x="0" y="0"/>
                  </a:moveTo>
                  <a:lnTo>
                    <a:pt x="2043723" y="0"/>
                  </a:lnTo>
                  <a:lnTo>
                    <a:pt x="2043723" y="3032035"/>
                  </a:lnTo>
                  <a:lnTo>
                    <a:pt x="0" y="3032035"/>
                  </a:lnTo>
                  <a:close/>
                </a:path>
              </a:pathLst>
            </a:custGeom>
            <a:gradFill rotWithShape="1">
              <a:gsLst>
                <a:gs pos="0">
                  <a:srgbClr val="0B4DAF">
                    <a:alpha val="0"/>
                  </a:srgbClr>
                </a:gs>
                <a:gs pos="50000">
                  <a:srgbClr val="00090D">
                    <a:alpha val="49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43723" cy="307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700071" y="2309189"/>
            <a:ext cx="3792394" cy="2116845"/>
          </a:xfrm>
          <a:custGeom>
            <a:avLst/>
            <a:gdLst/>
            <a:ahLst/>
            <a:cxnLst/>
            <a:rect l="l" t="t" r="r" b="b"/>
            <a:pathLst>
              <a:path w="3792394" h="2116845">
                <a:moveTo>
                  <a:pt x="0" y="0"/>
                </a:moveTo>
                <a:lnTo>
                  <a:pt x="3792394" y="0"/>
                </a:lnTo>
                <a:lnTo>
                  <a:pt x="3792394" y="2116845"/>
                </a:lnTo>
                <a:lnTo>
                  <a:pt x="0" y="2116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Freeform 7"/>
          <p:cNvSpPr/>
          <p:nvPr/>
        </p:nvSpPr>
        <p:spPr>
          <a:xfrm>
            <a:off x="12811833" y="7828843"/>
            <a:ext cx="5121833" cy="2858914"/>
          </a:xfrm>
          <a:custGeom>
            <a:avLst/>
            <a:gdLst/>
            <a:ahLst/>
            <a:cxnLst/>
            <a:rect l="l" t="t" r="r" b="b"/>
            <a:pathLst>
              <a:path w="5121833" h="2858914">
                <a:moveTo>
                  <a:pt x="0" y="0"/>
                </a:moveTo>
                <a:lnTo>
                  <a:pt x="5121832" y="0"/>
                </a:lnTo>
                <a:lnTo>
                  <a:pt x="5121832" y="2858914"/>
                </a:lnTo>
                <a:lnTo>
                  <a:pt x="0" y="2858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14" name="Group 14"/>
          <p:cNvGrpSpPr/>
          <p:nvPr/>
        </p:nvGrpSpPr>
        <p:grpSpPr>
          <a:xfrm>
            <a:off x="15831344" y="938858"/>
            <a:ext cx="4204642" cy="420464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62031" t="-17711" r="-59755" b="-20905"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05" y="7366748"/>
            <a:ext cx="4204642" cy="420464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62031" t="-17711" r="-59755" b="-20905"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8" name="TextBox 10">
            <a:extLst>
              <a:ext uri="{FF2B5EF4-FFF2-40B4-BE49-F238E27FC236}">
                <a16:creationId xmlns:a16="http://schemas.microsoft.com/office/drawing/2014/main" id="{BB210C65-7CD7-A548-440E-FD8A44150B2F}"/>
              </a:ext>
            </a:extLst>
          </p:cNvPr>
          <p:cNvSpPr txBox="1"/>
          <p:nvPr/>
        </p:nvSpPr>
        <p:spPr>
          <a:xfrm>
            <a:off x="5182870" y="3459866"/>
            <a:ext cx="8730131" cy="3367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2455"/>
              </a:lnSpc>
              <a:spcBef>
                <a:spcPct val="0"/>
              </a:spcBef>
            </a:pPr>
            <a:r>
              <a:rPr lang="he-IL" sz="16600" b="1" dirty="0">
                <a:solidFill>
                  <a:srgbClr val="A6CBF5"/>
                </a:solidFill>
                <a:cs typeface="Calibri (MS) Bold"/>
                <a:sym typeface="Calibri (MS) Bold"/>
                <a:rtl/>
              </a:rPr>
              <a:t>תודה על ההקשבה!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576</Words>
  <Application>Microsoft Office PowerPoint</Application>
  <PresentationFormat>מותאם אישית</PresentationFormat>
  <Paragraphs>109</Paragraphs>
  <Slides>19</Slides>
  <Notes>19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19</vt:i4>
      </vt:variant>
    </vt:vector>
  </HeadingPairs>
  <TitlesOfParts>
    <vt:vector size="27" baseType="lpstr">
      <vt:lpstr>Calibri (MS) Bold</vt:lpstr>
      <vt:lpstr>Aptos</vt:lpstr>
      <vt:lpstr>Arial</vt:lpstr>
      <vt:lpstr>Anton</vt:lpstr>
      <vt:lpstr>Calibri</vt:lpstr>
      <vt:lpstr>Segoe UI Semibold</vt:lpstr>
      <vt:lpstr>Montserrat Semi-Bold Italics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currency</dc:title>
  <dc:creator>mor sigman</dc:creator>
  <cp:lastModifiedBy>Mor Sigman</cp:lastModifiedBy>
  <cp:revision>74</cp:revision>
  <dcterms:created xsi:type="dcterms:W3CDTF">2006-08-16T00:00:00Z</dcterms:created>
  <dcterms:modified xsi:type="dcterms:W3CDTF">2026-02-15T19:55:38Z</dcterms:modified>
  <dc:identifier>DAHBJiszUxk</dc:identifier>
</cp:coreProperties>
</file>